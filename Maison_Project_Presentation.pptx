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109471F-5B1B-13F9-8F31-05A669375CF8}">
          <p14:sldIdLst>
            <p14:sldId id="256"/>
          </p14:sldIdLst>
        </p14:section>
        <p14:section name="Project" id="{850B1692-BAEF-0141-5B80-8AC64B0A0D87}">
          <p14:sldIdLst>
            <p14:sldId id="257"/>
            <p14:sldId id="258"/>
          </p14:sldIdLst>
        </p14:section>
        <p14:section name="Technology and Design" id="{AF5CB3A2-2BCB-E449-4F32-B3A011CE45A3}">
          <p14:sldIdLst>
            <p14:sldId id="259"/>
            <p14:sldId id="260"/>
            <p14:sldId id="261"/>
          </p14:sldIdLst>
        </p14:section>
        <p14:section name="Functionality" id="{58BFFDE4-971E-47BF-0291-F15F3F078CB2}">
          <p14:sldIdLst>
            <p14:sldId id="262"/>
          </p14:sldIdLst>
        </p14:section>
        <p14:section name="Conclusion" id="{7FBA08F0-EFDA-8839-FE96-B19B97200802}">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5993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 am Bhuvaneshwaran S, register number 24CY007, from the Cyber Security department. My project is MAISON, a contemporary dining restaurant website built as a front-end project.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Maison is a modern restaurant website that gives customers an attractive and convenient online experience. It introduces the restaurant, shows a food menu with images, descriptions and prices, presents the dining experience, and includes a table reservation form. The interface is responsive and navigation between sections is simple.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set six objectives: build an attractive website, present restaurant information clearly, show food items with images, descriptions and prices, provide a form for reservation preferences, make the layout responsive, and improve usability through clear navigation and design.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website uses HTML5 for structure, CSS3 for styling and layout, and Bootstrap 5.3.3 for the responsive grid and components. Bootstrap Icons 1.11.3 provides the icons, Google Fonts provides Playfair Display and DM Sans, and Bootstrap JavaScript powers interactive parts such as the collapsible mobile menu. It is a front-end project: there is no backend, database, authentication or payment gateway.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website is organised into six modules: Home with branding and navigation buttons; Restaurant Story with the introduction and philosophy; Menu with food images, names, descriptions and sample prices; Dining Experience; the Reservation form; and the Footer with links, contact placeholders and social icons.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uses a black, cream and gold palette with serif headings and readable body text. The layout is a responsive grid with consistent spacing. Menu cards and buttons have hover effects, the navigation bar is sticky, and the mobile menu collapses for small screens. The picture on the left is an illustrative mockup of the described design, not a screenshot. Replace it with a real screenshot of your website if you have 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visitor opens the website, explores the restaurant, views the menu, and enters reservation details. To be clear and honest: the reservation form is a front-end demonstration. It does not send data to a server, store reservations in a database, or make a real booking. A backend would be needed for that, which is part of our future scope.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I developed a modern restaurant website interface with clearly organised sections, sample menu items and prices, a reservation form, and responsive, interactive styling. In future this can be extended with a backend, a database for reservations, an admin dashboard, real-time table availability, online payments, and real contact details. Thank you. I am happy to answer your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325880"/>
            <a:ext cx="6035040" cy="1371600"/>
          </a:xfrm>
          <a:prstGeom prst="rect">
            <a:avLst/>
          </a:prstGeom>
          <a:noFill/>
          <a:ln/>
        </p:spPr>
        <p:txBody>
          <a:bodyPr wrap="square" rtlCol="0"/>
          <a:lstStyle>
            <a:lvl1pPr marL="0" indent="0" algn="l">
              <a:buNone/>
              <a:defRPr lang="en-US" sz="8000" b="1" kern="0" spc="600" dirty="0">
                <a:solidFill>
                  <a:schemeClr val="bg1"/>
                </a:solidFill>
              </a:defRPr>
            </a:lvl1pPr>
          </a:lstStyle>
          <a:p>
            <a:pPr marL="0" indent="0" algn="l">
              <a:buNone/>
            </a:pPr>
            <a:endParaRPr lang="en-US" sz="8000" dirty="0"/>
          </a:p>
        </p:txBody>
      </p:sp>
      <p:sp>
        <p:nvSpPr>
          <p:cNvPr id="3" name="Text 0"/>
          <p:cNvSpPr>
            <a:spLocks noGrp="1"/>
          </p:cNvSpPr>
          <p:nvPr>
            <p:ph type="body" idx="101" hasCustomPrompt="1"/>
          </p:nvPr>
        </p:nvSpPr>
        <p:spPr>
          <a:xfrm>
            <a:off x="731520" y="2743200"/>
            <a:ext cx="6035040" cy="457200"/>
          </a:xfrm>
          <a:prstGeom prst="rect">
            <a:avLst/>
          </a:prstGeom>
          <a:noFill/>
          <a:ln/>
        </p:spPr>
        <p:txBody>
          <a:bodyPr wrap="square" rtlCol="0"/>
          <a:lstStyle>
            <a:lvl1pPr marL="0" indent="0">
              <a:buNone/>
              <a:defRPr lang="en-US" sz="2400" dirty="0">
                <a:solidFill>
                  <a:schemeClr val="bg2"/>
                </a:solidFill>
              </a:defRPr>
            </a:lvl1pPr>
          </a:lstStyle>
          <a:p>
            <a:pPr marL="0" indent="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65760"/>
            <a:ext cx="7315200" cy="274320"/>
          </a:xfrm>
          <a:prstGeom prst="rect">
            <a:avLst/>
          </a:prstGeom>
          <a:noFill/>
          <a:ln/>
        </p:spPr>
        <p:txBody>
          <a:bodyPr wrap="square" rtlCol="0"/>
          <a:lstStyle>
            <a:lvl1pPr marL="0" indent="0">
              <a:buNone/>
              <a:defRPr lang="en-US" sz="1400" b="1" kern="0" spc="400" dirty="0">
                <a:solidFill>
                  <a:schemeClr val="accent4"/>
                </a:solidFill>
              </a:defRPr>
            </a:lvl1pPr>
          </a:lstStyle>
          <a:p>
            <a:pPr marL="0" indent="0">
              <a:buNone/>
            </a:pPr>
            <a:endParaRPr lang="en-US" sz="1400" dirty="0"/>
          </a:p>
        </p:txBody>
      </p:sp>
      <p:sp>
        <p:nvSpPr>
          <p:cNvPr id="3" name="Text 0"/>
          <p:cNvSpPr>
            <a:spLocks noGrp="1"/>
          </p:cNvSpPr>
          <p:nvPr>
            <p:ph type="title" idx="101" hasCustomPrompt="1"/>
          </p:nvPr>
        </p:nvSpPr>
        <p:spPr>
          <a:xfrm>
            <a:off x="548640" y="685800"/>
            <a:ext cx="11064240" cy="77724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4" name="Text 0"/>
          <p:cNvSpPr/>
          <p:nvPr/>
        </p:nvSpPr>
        <p:spPr>
          <a:xfrm>
            <a:off x="548640" y="6446520"/>
            <a:ext cx="7315200" cy="274320"/>
          </a:xfrm>
          <a:prstGeom prst="rect">
            <a:avLst/>
          </a:prstGeom>
          <a:noFill/>
          <a:ln/>
        </p:spPr>
        <p:txBody>
          <a:bodyPr wrap="square" lIns="0" tIns="0" rIns="0" bIns="0" rtlCol="0" anchor="ctr"/>
          <a:lstStyle/>
          <a:p>
            <a:pPr marL="0" indent="0">
              <a:buNone/>
            </a:pPr>
            <a:r>
              <a:rPr lang="en-US" sz="1100" dirty="0">
                <a:solidFill>
                  <a:schemeClr val="accent5"/>
                </a:solidFill>
              </a:rPr>
              <a:t>MAISON  ·  Contemporary Dining Restaurant Website</a:t>
            </a:r>
            <a:endParaRPr lang="en-US" sz="11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2.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16.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illustration" descr="Line illustration of a plate with fork, knife and glass"/>
          <p:cNvPicPr>
            <a:picLocks noChangeAspect="1"/>
          </p:cNvPicPr>
          <p:nvPr/>
        </p:nvPicPr>
        <p:blipFill>
          <a:blip r:embed="rId3"/>
          <a:stretch>
            <a:fillRect/>
          </a:stretch>
        </p:blipFill>
        <p:spPr>
          <a:xfrm>
            <a:off x="6949440" y="0"/>
            <a:ext cx="5239512" cy="6858000"/>
          </a:xfrm>
          <a:prstGeom prst="rect">
            <a:avLst/>
          </a:prstGeom>
        </p:spPr>
      </p:pic>
      <p:sp>
        <p:nvSpPr>
          <p:cNvPr id="3" name="Eyebrow"/>
          <p:cNvSpPr txBox="1"/>
          <p:nvPr/>
        </p:nvSpPr>
        <p:spPr>
          <a:xfrm>
            <a:off x="731520" y="868680"/>
            <a:ext cx="6035040" cy="320040"/>
          </a:xfrm>
          <a:prstGeom prst="rect">
            <a:avLst/>
          </a:prstGeom>
          <a:noFill/>
          <a:ln/>
        </p:spPr>
        <p:txBody>
          <a:bodyPr wrap="square" lIns="0" tIns="0" rIns="0" bIns="0" rtlCol="0" anchor="ctr"/>
          <a:lstStyle/>
          <a:p>
            <a:pPr marL="0" indent="0">
              <a:buNone/>
            </a:pPr>
            <a:r>
              <a:rPr lang="en-US" sz="1400" b="1" kern="0" spc="500" dirty="0">
                <a:solidFill>
                  <a:schemeClr val="accent1"/>
                </a:solidFill>
              </a:rPr>
              <a:t>PROJECT PRESENTATION</a:t>
            </a:r>
            <a:endParaRPr lang="en-US" sz="1400" dirty="0"/>
          </a:p>
        </p:txBody>
      </p:sp>
      <p:sp>
        <p:nvSpPr>
          <p:cNvPr id="4" name="Text 0"/>
          <p:cNvSpPr>
            <a:spLocks noGrp="1"/>
          </p:cNvSpPr>
          <p:nvPr>
            <p:ph type="title" idx="100" hasCustomPrompt="1"/>
          </p:nvPr>
        </p:nvSpPr>
        <p:spPr>
          <a:xfrm>
            <a:off x="731520" y="1325880"/>
            <a:ext cx="6035040" cy="1371600"/>
          </a:xfrm>
          <a:prstGeom prst="rect">
            <a:avLst/>
          </a:prstGeom>
          <a:noFill/>
          <a:ln/>
        </p:spPr>
        <p:txBody>
          <a:bodyPr wrap="square" lIns="0" tIns="0" rIns="0" bIns="0" rtlCol="0" anchor="ctr"/>
          <a:lstStyle/>
          <a:p>
            <a:pPr marL="0" indent="0" algn="l">
              <a:buNone/>
            </a:pPr>
            <a:r>
              <a:rPr lang="en-US" sz="8000" b="1" kern="0" spc="600" dirty="0">
                <a:solidFill>
                  <a:schemeClr val="bg1"/>
                </a:solidFill>
              </a:rPr>
              <a:t>MAISON</a:t>
            </a:r>
            <a:endParaRPr lang="en-US" sz="8000" dirty="0"/>
          </a:p>
        </p:txBody>
      </p:sp>
      <p:sp>
        <p:nvSpPr>
          <p:cNvPr id="5" name="Text 0"/>
          <p:cNvSpPr>
            <a:spLocks noGrp="1"/>
          </p:cNvSpPr>
          <p:nvPr>
            <p:ph type="body" idx="101" hasCustomPrompt="1"/>
          </p:nvPr>
        </p:nvSpPr>
        <p:spPr>
          <a:xfrm>
            <a:off x="731520" y="2743200"/>
            <a:ext cx="6035040" cy="457200"/>
          </a:xfrm>
          <a:prstGeom prst="rect">
            <a:avLst/>
          </a:prstGeom>
          <a:noFill/>
          <a:ln/>
        </p:spPr>
        <p:txBody>
          <a:bodyPr wrap="square" lIns="0" tIns="0" rIns="0" bIns="0" rtlCol="0" anchor="ctr"/>
          <a:lstStyle/>
          <a:p>
            <a:pPr marL="0" indent="0">
              <a:buNone/>
            </a:pPr>
            <a:r>
              <a:rPr lang="en-US" sz="2400" dirty="0">
                <a:solidFill>
                  <a:schemeClr val="bg2"/>
                </a:solidFill>
              </a:rPr>
              <a:t>Contemporary Dining Restaurant Website</a:t>
            </a:r>
            <a:endParaRPr lang="en-US" sz="2400" dirty="0"/>
          </a:p>
        </p:txBody>
      </p:sp>
      <p:sp>
        <p:nvSpPr>
          <p:cNvPr id="6" name="Gold divider"/>
          <p:cNvSpPr/>
          <p:nvPr/>
        </p:nvSpPr>
        <p:spPr>
          <a:xfrm>
            <a:off x="731520" y="3520440"/>
            <a:ext cx="1097280" cy="0"/>
          </a:xfrm>
          <a:prstGeom prst="line">
            <a:avLst/>
          </a:prstGeom>
          <a:noFill/>
          <a:ln w="19050">
            <a:solidFill>
              <a:schemeClr val="accent1"/>
            </a:solidFill>
            <a:prstDash val="solid"/>
          </a:ln>
        </p:spPr>
      </p:sp>
      <p:sp>
        <p:nvSpPr>
          <p:cNvPr id="7" name="Presenter details"/>
          <p:cNvSpPr txBox="1"/>
          <p:nvPr/>
        </p:nvSpPr>
        <p:spPr>
          <a:xfrm>
            <a:off x="731520" y="3794760"/>
            <a:ext cx="6217920" cy="1920240"/>
          </a:xfrm>
          <a:prstGeom prst="rect">
            <a:avLst/>
          </a:prstGeom>
          <a:noFill/>
          <a:ln/>
        </p:spPr>
        <p:txBody>
          <a:bodyPr wrap="square" lIns="0" tIns="0" rIns="0" bIns="0" rtlCol="0" anchor="t"/>
          <a:lstStyle/>
          <a:p>
            <a:pPr>
              <a:spcAft>
                <a:spcPts val="800"/>
              </a:spcAft>
            </a:pPr>
            <a:r>
              <a:rPr lang="en-US" sz="1800" b="1" dirty="0">
                <a:solidFill>
                  <a:schemeClr val="accent1"/>
                </a:solidFill>
              </a:rPr>
              <a:t>Team Name:  </a:t>
            </a:r>
            <a:r>
              <a:rPr lang="en-US" b="1" dirty="0">
                <a:solidFill>
                  <a:schemeClr val="bg1"/>
                </a:solidFill>
              </a:rPr>
              <a:t>Pixel Pirates</a:t>
            </a:r>
            <a:endParaRPr lang="en-US" sz="1800" dirty="0">
              <a:solidFill>
                <a:schemeClr val="bg1"/>
              </a:solidFill>
            </a:endParaRPr>
          </a:p>
          <a:p>
            <a:pPr marL="0" indent="0">
              <a:spcAft>
                <a:spcPts val="800"/>
              </a:spcAft>
              <a:buNone/>
            </a:pPr>
            <a:r>
              <a:rPr lang="en-US" sz="1800" b="1" dirty="0">
                <a:solidFill>
                  <a:schemeClr val="accent1"/>
                </a:solidFill>
              </a:rPr>
              <a:t>Team Members:  </a:t>
            </a:r>
            <a:r>
              <a:rPr lang="en-US" sz="1800" dirty="0" err="1">
                <a:solidFill>
                  <a:schemeClr val="bg1"/>
                </a:solidFill>
              </a:rPr>
              <a:t>Aravindharaja</a:t>
            </a:r>
            <a:r>
              <a:rPr lang="en-US" sz="1800" dirty="0">
                <a:solidFill>
                  <a:schemeClr val="bg1"/>
                </a:solidFill>
              </a:rPr>
              <a:t> R.I</a:t>
            </a:r>
            <a:br>
              <a:rPr lang="en-US" sz="1800" dirty="0">
                <a:solidFill>
                  <a:schemeClr val="bg1"/>
                </a:solidFill>
              </a:rPr>
            </a:br>
            <a:r>
              <a:rPr lang="en-US" sz="1800" dirty="0">
                <a:solidFill>
                  <a:schemeClr val="bg1"/>
                </a:solidFill>
              </a:rPr>
              <a:t>                               </a:t>
            </a:r>
            <a:r>
              <a:rPr lang="en-US" sz="1800" dirty="0" err="1">
                <a:solidFill>
                  <a:schemeClr val="bg1"/>
                </a:solidFill>
              </a:rPr>
              <a:t>Bhuvaneshwaran</a:t>
            </a:r>
            <a:r>
              <a:rPr lang="en-US" sz="1800" dirty="0">
                <a:solidFill>
                  <a:schemeClr val="bg1"/>
                </a:solidFill>
              </a:rPr>
              <a:t> S</a:t>
            </a:r>
          </a:p>
          <a:p>
            <a:pPr marL="0" indent="0">
              <a:spcAft>
                <a:spcPts val="800"/>
              </a:spcAft>
              <a:buNone/>
            </a:pPr>
            <a:r>
              <a:rPr lang="en-US" dirty="0">
                <a:solidFill>
                  <a:schemeClr val="bg1"/>
                </a:solidFill>
              </a:rPr>
              <a:t>                              </a:t>
            </a:r>
            <a:r>
              <a:rPr lang="en-US" sz="1800" dirty="0">
                <a:solidFill>
                  <a:schemeClr val="bg1"/>
                </a:solidFill>
              </a:rPr>
              <a:t> Santhos K</a:t>
            </a:r>
            <a:endParaRPr lang="en-US" sz="1800" dirty="0"/>
          </a:p>
          <a:p>
            <a:pPr marL="0" indent="0">
              <a:spcAft>
                <a:spcPts val="800"/>
              </a:spcAft>
              <a:buNone/>
            </a:pPr>
            <a:r>
              <a:rPr lang="en-US" sz="1800" b="1" dirty="0">
                <a:solidFill>
                  <a:schemeClr val="accent1"/>
                </a:solidFill>
              </a:rPr>
              <a:t>Course Name:  </a:t>
            </a:r>
            <a:r>
              <a:rPr lang="en-US" sz="1800" dirty="0">
                <a:solidFill>
                  <a:schemeClr val="bg1"/>
                </a:solidFill>
              </a:rPr>
              <a:t>UI/UX &amp; Web Designing</a:t>
            </a:r>
          </a:p>
        </p:txBody>
      </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65760"/>
            <a:ext cx="7315200" cy="274320"/>
          </a:xfrm>
          <a:prstGeom prst="rect">
            <a:avLst/>
          </a:prstGeom>
          <a:noFill/>
          <a:ln/>
        </p:spPr>
        <p:txBody>
          <a:bodyPr wrap="square" lIns="0" tIns="0" rIns="0" bIns="0" rtlCol="0" anchor="ctr"/>
          <a:lstStyle/>
          <a:p>
            <a:pPr marL="0" indent="0">
              <a:buNone/>
            </a:pPr>
            <a:r>
              <a:rPr lang="en-US" sz="1400" b="1" kern="0" spc="400" dirty="0">
                <a:solidFill>
                  <a:schemeClr val="accent4"/>
                </a:solidFill>
              </a:rPr>
              <a:t>ABSTRACT</a:t>
            </a:r>
            <a:endParaRPr lang="en-US" sz="1400" dirty="0"/>
          </a:p>
        </p:txBody>
      </p:sp>
      <p:sp>
        <p:nvSpPr>
          <p:cNvPr id="3" name="Text 0"/>
          <p:cNvSpPr>
            <a:spLocks noGrp="1"/>
          </p:cNvSpPr>
          <p:nvPr>
            <p:ph type="title" idx="101" hasCustomPrompt="1"/>
          </p:nvPr>
        </p:nvSpPr>
        <p:spPr>
          <a:xfrm>
            <a:off x="548640" y="68580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Project Overview</a:t>
            </a:r>
            <a:endParaRPr lang="en-US" sz="3400" dirty="0"/>
          </a:p>
        </p:txBody>
      </p:sp>
      <p:sp>
        <p:nvSpPr>
          <p:cNvPr id="4" name="Purpose card"/>
          <p:cNvSpPr/>
          <p:nvPr/>
        </p:nvSpPr>
        <p:spPr>
          <a:xfrm>
            <a:off x="548640" y="1691640"/>
            <a:ext cx="5394960" cy="4480560"/>
          </a:xfrm>
          <a:prstGeom prst="rect">
            <a:avLst/>
          </a:prstGeom>
          <a:solidFill>
            <a:schemeClr val="tx2"/>
          </a:solidFill>
          <a:ln w="12700">
            <a:solidFill>
              <a:schemeClr val="tx2"/>
            </a:solidFill>
            <a:prstDash val="solid"/>
          </a:ln>
        </p:spPr>
      </p:sp>
      <p:sp>
        <p:nvSpPr>
          <p:cNvPr id="5" name="Purpose label"/>
          <p:cNvSpPr txBox="1"/>
          <p:nvPr/>
        </p:nvSpPr>
        <p:spPr>
          <a:xfrm>
            <a:off x="1005840" y="2057400"/>
            <a:ext cx="4480560" cy="320040"/>
          </a:xfrm>
          <a:prstGeom prst="rect">
            <a:avLst/>
          </a:prstGeom>
          <a:noFill/>
          <a:ln/>
        </p:spPr>
        <p:txBody>
          <a:bodyPr wrap="square" lIns="0" tIns="0" rIns="0" bIns="0" rtlCol="0" anchor="ctr"/>
          <a:lstStyle/>
          <a:p>
            <a:pPr marL="0" indent="0">
              <a:buNone/>
            </a:pPr>
            <a:r>
              <a:rPr lang="en-US" sz="1400" b="1" kern="0" spc="400" dirty="0">
                <a:solidFill>
                  <a:schemeClr val="accent1"/>
                </a:solidFill>
              </a:rPr>
              <a:t>PURPOSE</a:t>
            </a:r>
            <a:endParaRPr lang="en-US" sz="1400" dirty="0"/>
          </a:p>
        </p:txBody>
      </p:sp>
      <p:sp>
        <p:nvSpPr>
          <p:cNvPr id="6" name="Purpose text"/>
          <p:cNvSpPr txBox="1"/>
          <p:nvPr/>
        </p:nvSpPr>
        <p:spPr>
          <a:xfrm>
            <a:off x="1005840" y="2514600"/>
            <a:ext cx="4480560" cy="2286000"/>
          </a:xfrm>
          <a:prstGeom prst="rect">
            <a:avLst/>
          </a:prstGeom>
          <a:noFill/>
          <a:ln/>
        </p:spPr>
        <p:txBody>
          <a:bodyPr wrap="square" lIns="0" tIns="0" rIns="0" bIns="0" rtlCol="0" anchor="t"/>
          <a:lstStyle/>
          <a:p>
            <a:pPr marL="0" indent="0">
              <a:buNone/>
            </a:pPr>
            <a:r>
              <a:rPr lang="en-US" sz="2200" dirty="0">
                <a:solidFill>
                  <a:schemeClr val="bg1"/>
                </a:solidFill>
              </a:rPr>
              <a:t>Maison is a modern restaurant website designed to provide an attractive and convenient online experience for customers.</a:t>
            </a:r>
            <a:endParaRPr lang="en-US" sz="2200" dirty="0"/>
          </a:p>
        </p:txBody>
      </p:sp>
      <p:pic>
        <p:nvPicPr>
          <p:cNvPr id="7" name="Cutlery icon" descr="Cutlery icon"/>
          <p:cNvPicPr>
            <a:picLocks noChangeAspect="1"/>
          </p:cNvPicPr>
          <p:nvPr/>
        </p:nvPicPr>
        <p:blipFill>
          <a:blip r:embed="rId3"/>
          <a:stretch>
            <a:fillRect/>
          </a:stretch>
        </p:blipFill>
        <p:spPr>
          <a:xfrm>
            <a:off x="1005840" y="5257800"/>
            <a:ext cx="548640" cy="548640"/>
          </a:xfrm>
          <a:prstGeom prst="rect">
            <a:avLst/>
          </a:prstGeom>
        </p:spPr>
      </p:pic>
      <p:sp>
        <p:nvSpPr>
          <p:cNvPr id="8" name="Features heading"/>
          <p:cNvSpPr txBox="1"/>
          <p:nvPr/>
        </p:nvSpPr>
        <p:spPr>
          <a:xfrm>
            <a:off x="6400800" y="1691640"/>
            <a:ext cx="5212080" cy="457200"/>
          </a:xfrm>
          <a:prstGeom prst="rect">
            <a:avLst/>
          </a:prstGeom>
          <a:noFill/>
          <a:ln/>
        </p:spPr>
        <p:txBody>
          <a:bodyPr wrap="square" lIns="0" tIns="0" rIns="0" bIns="0" rtlCol="0" anchor="ctr"/>
          <a:lstStyle/>
          <a:p>
            <a:pPr marL="0" indent="0">
              <a:buNone/>
            </a:pPr>
            <a:r>
              <a:rPr lang="en-US" sz="2400" b="1" dirty="0">
                <a:solidFill>
                  <a:schemeClr val="tx2"/>
                </a:solidFill>
                <a:latin typeface="Cambria" pitchFamily="34" charset="0"/>
                <a:ea typeface="Cambria" pitchFamily="34" charset="-122"/>
                <a:cs typeface="Cambria" pitchFamily="34" charset="-120"/>
              </a:rPr>
              <a:t>Key Features</a:t>
            </a:r>
            <a:endParaRPr lang="en-US" sz="2400" dirty="0"/>
          </a:p>
        </p:txBody>
      </p:sp>
      <p:sp>
        <p:nvSpPr>
          <p:cNvPr id="9" name="Check circle 1"/>
          <p:cNvSpPr/>
          <p:nvPr/>
        </p:nvSpPr>
        <p:spPr>
          <a:xfrm>
            <a:off x="6400800" y="2404872"/>
            <a:ext cx="384048" cy="384048"/>
          </a:xfrm>
          <a:prstGeom prst="ellipse">
            <a:avLst/>
          </a:prstGeom>
          <a:solidFill>
            <a:schemeClr val="tx2"/>
          </a:solidFill>
          <a:ln w="12700">
            <a:solidFill>
              <a:schemeClr val="tx2"/>
            </a:solidFill>
            <a:prstDash val="solid"/>
          </a:ln>
        </p:spPr>
      </p:sp>
      <p:pic>
        <p:nvPicPr>
          <p:cNvPr id="10" name="Check 1" descr="Check"/>
          <p:cNvPicPr>
            <a:picLocks noChangeAspect="1"/>
          </p:cNvPicPr>
          <p:nvPr/>
        </p:nvPicPr>
        <p:blipFill>
          <a:blip r:embed="rId4"/>
          <a:stretch>
            <a:fillRect/>
          </a:stretch>
        </p:blipFill>
        <p:spPr>
          <a:xfrm>
            <a:off x="6501384" y="2505456"/>
            <a:ext cx="182880" cy="182880"/>
          </a:xfrm>
          <a:prstGeom prst="rect">
            <a:avLst/>
          </a:prstGeom>
        </p:spPr>
      </p:pic>
      <p:sp>
        <p:nvSpPr>
          <p:cNvPr id="11" name="Feature 1"/>
          <p:cNvSpPr txBox="1"/>
          <p:nvPr/>
        </p:nvSpPr>
        <p:spPr>
          <a:xfrm>
            <a:off x="6995160" y="2377440"/>
            <a:ext cx="4663440" cy="438912"/>
          </a:xfrm>
          <a:prstGeom prst="rect">
            <a:avLst/>
          </a:prstGeom>
          <a:noFill/>
          <a:ln/>
        </p:spPr>
        <p:txBody>
          <a:bodyPr wrap="square" lIns="0" tIns="0" rIns="0" bIns="0" rtlCol="0" anchor="ctr"/>
          <a:lstStyle/>
          <a:p>
            <a:pPr marL="0" indent="0">
              <a:buNone/>
            </a:pPr>
            <a:r>
              <a:rPr lang="en-US" sz="1800" dirty="0">
                <a:solidFill>
                  <a:schemeClr val="tx1"/>
                </a:solidFill>
              </a:rPr>
              <a:t>Restaurant introduction and information</a:t>
            </a:r>
            <a:endParaRPr lang="en-US" sz="1800" dirty="0"/>
          </a:p>
        </p:txBody>
      </p:sp>
      <p:sp>
        <p:nvSpPr>
          <p:cNvPr id="12" name="Check circle 2"/>
          <p:cNvSpPr/>
          <p:nvPr/>
        </p:nvSpPr>
        <p:spPr>
          <a:xfrm>
            <a:off x="6400800" y="3044952"/>
            <a:ext cx="384048" cy="384048"/>
          </a:xfrm>
          <a:prstGeom prst="ellipse">
            <a:avLst/>
          </a:prstGeom>
          <a:solidFill>
            <a:schemeClr val="tx2"/>
          </a:solidFill>
          <a:ln w="12700">
            <a:solidFill>
              <a:schemeClr val="tx2"/>
            </a:solidFill>
            <a:prstDash val="solid"/>
          </a:ln>
        </p:spPr>
      </p:sp>
      <p:pic>
        <p:nvPicPr>
          <p:cNvPr id="13" name="Check 2" descr="Check"/>
          <p:cNvPicPr>
            <a:picLocks noChangeAspect="1"/>
          </p:cNvPicPr>
          <p:nvPr/>
        </p:nvPicPr>
        <p:blipFill>
          <a:blip r:embed="rId4"/>
          <a:stretch>
            <a:fillRect/>
          </a:stretch>
        </p:blipFill>
        <p:spPr>
          <a:xfrm>
            <a:off x="6501384" y="3145536"/>
            <a:ext cx="182880" cy="182880"/>
          </a:xfrm>
          <a:prstGeom prst="rect">
            <a:avLst/>
          </a:prstGeom>
        </p:spPr>
      </p:pic>
      <p:sp>
        <p:nvSpPr>
          <p:cNvPr id="14" name="Feature 2"/>
          <p:cNvSpPr txBox="1"/>
          <p:nvPr/>
        </p:nvSpPr>
        <p:spPr>
          <a:xfrm>
            <a:off x="6995160" y="3017520"/>
            <a:ext cx="4663440" cy="438912"/>
          </a:xfrm>
          <a:prstGeom prst="rect">
            <a:avLst/>
          </a:prstGeom>
          <a:noFill/>
          <a:ln/>
        </p:spPr>
        <p:txBody>
          <a:bodyPr wrap="square" lIns="0" tIns="0" rIns="0" bIns="0" rtlCol="0" anchor="ctr"/>
          <a:lstStyle/>
          <a:p>
            <a:pPr marL="0" indent="0">
              <a:buNone/>
            </a:pPr>
            <a:r>
              <a:rPr lang="en-US" sz="1800" dirty="0">
                <a:solidFill>
                  <a:schemeClr val="tx1"/>
                </a:solidFill>
              </a:rPr>
              <a:t>Food menu with images, descriptions, prices</a:t>
            </a:r>
            <a:endParaRPr lang="en-US" sz="1800" dirty="0"/>
          </a:p>
        </p:txBody>
      </p:sp>
      <p:sp>
        <p:nvSpPr>
          <p:cNvPr id="15" name="Check circle 3"/>
          <p:cNvSpPr/>
          <p:nvPr/>
        </p:nvSpPr>
        <p:spPr>
          <a:xfrm>
            <a:off x="6400800" y="3685032"/>
            <a:ext cx="384048" cy="384048"/>
          </a:xfrm>
          <a:prstGeom prst="ellipse">
            <a:avLst/>
          </a:prstGeom>
          <a:solidFill>
            <a:schemeClr val="tx2"/>
          </a:solidFill>
          <a:ln w="12700">
            <a:solidFill>
              <a:schemeClr val="tx2"/>
            </a:solidFill>
            <a:prstDash val="solid"/>
          </a:ln>
        </p:spPr>
      </p:sp>
      <p:pic>
        <p:nvPicPr>
          <p:cNvPr id="16" name="Check 3" descr="Check"/>
          <p:cNvPicPr>
            <a:picLocks noChangeAspect="1"/>
          </p:cNvPicPr>
          <p:nvPr/>
        </p:nvPicPr>
        <p:blipFill>
          <a:blip r:embed="rId4"/>
          <a:stretch>
            <a:fillRect/>
          </a:stretch>
        </p:blipFill>
        <p:spPr>
          <a:xfrm>
            <a:off x="6501384" y="3785616"/>
            <a:ext cx="182880" cy="182880"/>
          </a:xfrm>
          <a:prstGeom prst="rect">
            <a:avLst/>
          </a:prstGeom>
        </p:spPr>
      </p:pic>
      <p:sp>
        <p:nvSpPr>
          <p:cNvPr id="17" name="Feature 3"/>
          <p:cNvSpPr txBox="1"/>
          <p:nvPr/>
        </p:nvSpPr>
        <p:spPr>
          <a:xfrm>
            <a:off x="6995160" y="3657600"/>
            <a:ext cx="4663440" cy="438912"/>
          </a:xfrm>
          <a:prstGeom prst="rect">
            <a:avLst/>
          </a:prstGeom>
          <a:noFill/>
          <a:ln/>
        </p:spPr>
        <p:txBody>
          <a:bodyPr wrap="square" lIns="0" tIns="0" rIns="0" bIns="0" rtlCol="0" anchor="ctr"/>
          <a:lstStyle/>
          <a:p>
            <a:pPr marL="0" indent="0">
              <a:buNone/>
            </a:pPr>
            <a:r>
              <a:rPr lang="en-US" sz="1800" dirty="0">
                <a:solidFill>
                  <a:schemeClr val="tx1"/>
                </a:solidFill>
              </a:rPr>
              <a:t>Restaurant dining experience section</a:t>
            </a:r>
            <a:endParaRPr lang="en-US" sz="1800" dirty="0"/>
          </a:p>
        </p:txBody>
      </p:sp>
      <p:sp>
        <p:nvSpPr>
          <p:cNvPr id="18" name="Check circle 4"/>
          <p:cNvSpPr/>
          <p:nvPr/>
        </p:nvSpPr>
        <p:spPr>
          <a:xfrm>
            <a:off x="6400800" y="4325112"/>
            <a:ext cx="384048" cy="384048"/>
          </a:xfrm>
          <a:prstGeom prst="ellipse">
            <a:avLst/>
          </a:prstGeom>
          <a:solidFill>
            <a:schemeClr val="tx2"/>
          </a:solidFill>
          <a:ln w="12700">
            <a:solidFill>
              <a:schemeClr val="tx2"/>
            </a:solidFill>
            <a:prstDash val="solid"/>
          </a:ln>
        </p:spPr>
      </p:sp>
      <p:pic>
        <p:nvPicPr>
          <p:cNvPr id="19" name="Check 4" descr="Check"/>
          <p:cNvPicPr>
            <a:picLocks noChangeAspect="1"/>
          </p:cNvPicPr>
          <p:nvPr/>
        </p:nvPicPr>
        <p:blipFill>
          <a:blip r:embed="rId4"/>
          <a:stretch>
            <a:fillRect/>
          </a:stretch>
        </p:blipFill>
        <p:spPr>
          <a:xfrm>
            <a:off x="6501384" y="4425696"/>
            <a:ext cx="182880" cy="182880"/>
          </a:xfrm>
          <a:prstGeom prst="rect">
            <a:avLst/>
          </a:prstGeom>
        </p:spPr>
      </p:pic>
      <p:sp>
        <p:nvSpPr>
          <p:cNvPr id="20" name="Feature 4"/>
          <p:cNvSpPr txBox="1"/>
          <p:nvPr/>
        </p:nvSpPr>
        <p:spPr>
          <a:xfrm>
            <a:off x="6995160" y="4297680"/>
            <a:ext cx="4663440" cy="438912"/>
          </a:xfrm>
          <a:prstGeom prst="rect">
            <a:avLst/>
          </a:prstGeom>
          <a:noFill/>
          <a:ln/>
        </p:spPr>
        <p:txBody>
          <a:bodyPr wrap="square" lIns="0" tIns="0" rIns="0" bIns="0" rtlCol="0" anchor="ctr"/>
          <a:lstStyle/>
          <a:p>
            <a:pPr marL="0" indent="0">
              <a:buNone/>
            </a:pPr>
            <a:r>
              <a:rPr lang="en-US" sz="1800" dirty="0">
                <a:solidFill>
                  <a:schemeClr val="tx1"/>
                </a:solidFill>
              </a:rPr>
              <a:t>Table reservation form</a:t>
            </a:r>
            <a:endParaRPr lang="en-US" sz="1800" dirty="0"/>
          </a:p>
        </p:txBody>
      </p:sp>
      <p:sp>
        <p:nvSpPr>
          <p:cNvPr id="21" name="Check circle 5"/>
          <p:cNvSpPr/>
          <p:nvPr/>
        </p:nvSpPr>
        <p:spPr>
          <a:xfrm>
            <a:off x="6400800" y="4965192"/>
            <a:ext cx="384048" cy="384048"/>
          </a:xfrm>
          <a:prstGeom prst="ellipse">
            <a:avLst/>
          </a:prstGeom>
          <a:solidFill>
            <a:schemeClr val="tx2"/>
          </a:solidFill>
          <a:ln w="12700">
            <a:solidFill>
              <a:schemeClr val="tx2"/>
            </a:solidFill>
            <a:prstDash val="solid"/>
          </a:ln>
        </p:spPr>
      </p:sp>
      <p:pic>
        <p:nvPicPr>
          <p:cNvPr id="22" name="Check 5" descr="Check"/>
          <p:cNvPicPr>
            <a:picLocks noChangeAspect="1"/>
          </p:cNvPicPr>
          <p:nvPr/>
        </p:nvPicPr>
        <p:blipFill>
          <a:blip r:embed="rId4"/>
          <a:stretch>
            <a:fillRect/>
          </a:stretch>
        </p:blipFill>
        <p:spPr>
          <a:xfrm>
            <a:off x="6501384" y="5065776"/>
            <a:ext cx="182880" cy="182880"/>
          </a:xfrm>
          <a:prstGeom prst="rect">
            <a:avLst/>
          </a:prstGeom>
        </p:spPr>
      </p:pic>
      <p:sp>
        <p:nvSpPr>
          <p:cNvPr id="23" name="Feature 5"/>
          <p:cNvSpPr txBox="1"/>
          <p:nvPr/>
        </p:nvSpPr>
        <p:spPr>
          <a:xfrm>
            <a:off x="6995160" y="4937760"/>
            <a:ext cx="4663440" cy="438912"/>
          </a:xfrm>
          <a:prstGeom prst="rect">
            <a:avLst/>
          </a:prstGeom>
          <a:noFill/>
          <a:ln/>
        </p:spPr>
        <p:txBody>
          <a:bodyPr wrap="square" lIns="0" tIns="0" rIns="0" bIns="0" rtlCol="0" anchor="ctr"/>
          <a:lstStyle/>
          <a:p>
            <a:pPr marL="0" indent="0">
              <a:buNone/>
            </a:pPr>
            <a:r>
              <a:rPr lang="en-US" sz="1800" dirty="0">
                <a:solidFill>
                  <a:schemeClr val="tx1"/>
                </a:solidFill>
              </a:rPr>
              <a:t>Responsive user interface</a:t>
            </a:r>
            <a:endParaRPr lang="en-US" sz="1800" dirty="0"/>
          </a:p>
        </p:txBody>
      </p:sp>
      <p:sp>
        <p:nvSpPr>
          <p:cNvPr id="24" name="Check circle 6"/>
          <p:cNvSpPr/>
          <p:nvPr/>
        </p:nvSpPr>
        <p:spPr>
          <a:xfrm>
            <a:off x="6400800" y="5605272"/>
            <a:ext cx="384048" cy="384048"/>
          </a:xfrm>
          <a:prstGeom prst="ellipse">
            <a:avLst/>
          </a:prstGeom>
          <a:solidFill>
            <a:schemeClr val="tx2"/>
          </a:solidFill>
          <a:ln w="12700">
            <a:solidFill>
              <a:schemeClr val="tx2"/>
            </a:solidFill>
            <a:prstDash val="solid"/>
          </a:ln>
        </p:spPr>
      </p:sp>
      <p:pic>
        <p:nvPicPr>
          <p:cNvPr id="25" name="Check 6" descr="Check"/>
          <p:cNvPicPr>
            <a:picLocks noChangeAspect="1"/>
          </p:cNvPicPr>
          <p:nvPr/>
        </p:nvPicPr>
        <p:blipFill>
          <a:blip r:embed="rId4"/>
          <a:stretch>
            <a:fillRect/>
          </a:stretch>
        </p:blipFill>
        <p:spPr>
          <a:xfrm>
            <a:off x="6501384" y="5705856"/>
            <a:ext cx="182880" cy="182880"/>
          </a:xfrm>
          <a:prstGeom prst="rect">
            <a:avLst/>
          </a:prstGeom>
        </p:spPr>
      </p:pic>
      <p:sp>
        <p:nvSpPr>
          <p:cNvPr id="26" name="Feature 6"/>
          <p:cNvSpPr txBox="1"/>
          <p:nvPr/>
        </p:nvSpPr>
        <p:spPr>
          <a:xfrm>
            <a:off x="6995160" y="5577840"/>
            <a:ext cx="4663440" cy="438912"/>
          </a:xfrm>
          <a:prstGeom prst="rect">
            <a:avLst/>
          </a:prstGeom>
          <a:noFill/>
          <a:ln/>
        </p:spPr>
        <p:txBody>
          <a:bodyPr wrap="square" lIns="0" tIns="0" rIns="0" bIns="0" rtlCol="0" anchor="ctr"/>
          <a:lstStyle/>
          <a:p>
            <a:pPr marL="0" indent="0">
              <a:buNone/>
            </a:pPr>
            <a:r>
              <a:rPr lang="en-US" sz="1800" dirty="0">
                <a:solidFill>
                  <a:schemeClr val="tx1"/>
                </a:solidFill>
              </a:rPr>
              <a:t>Simple navigation between sections</a:t>
            </a:r>
            <a:endParaRPr lang="en-US" sz="1800" dirty="0"/>
          </a:p>
        </p:txBody>
      </p:sp>
      <p:sp>
        <p:nvSpPr>
          <p:cNvPr id="27"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2</a:t>
            </a:fld>
            <a:endParaRPr lang="en-US"/>
          </a:p>
        </p:txBody>
      </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65760"/>
            <a:ext cx="7315200" cy="274320"/>
          </a:xfrm>
          <a:prstGeom prst="rect">
            <a:avLst/>
          </a:prstGeom>
          <a:noFill/>
          <a:ln/>
        </p:spPr>
        <p:txBody>
          <a:bodyPr wrap="square" lIns="0" tIns="0" rIns="0" bIns="0" rtlCol="0" anchor="ctr"/>
          <a:lstStyle/>
          <a:p>
            <a:pPr marL="0" indent="0">
              <a:buNone/>
            </a:pPr>
            <a:r>
              <a:rPr lang="en-US" sz="1400" b="1" kern="0" spc="400" dirty="0">
                <a:solidFill>
                  <a:schemeClr val="accent4"/>
                </a:solidFill>
              </a:rPr>
              <a:t>OBJECTIVES</a:t>
            </a:r>
            <a:endParaRPr lang="en-US" sz="1400" dirty="0"/>
          </a:p>
        </p:txBody>
      </p:sp>
      <p:sp>
        <p:nvSpPr>
          <p:cNvPr id="3" name="Text 0"/>
          <p:cNvSpPr>
            <a:spLocks noGrp="1"/>
          </p:cNvSpPr>
          <p:nvPr>
            <p:ph type="title" idx="101" hasCustomPrompt="1"/>
          </p:nvPr>
        </p:nvSpPr>
        <p:spPr>
          <a:xfrm>
            <a:off x="548640" y="68580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Project Objectives</a:t>
            </a:r>
            <a:endParaRPr lang="en-US" sz="3400" dirty="0"/>
          </a:p>
        </p:txBody>
      </p:sp>
      <p:sp>
        <p:nvSpPr>
          <p:cNvPr id="4" name="Objective card 1"/>
          <p:cNvSpPr/>
          <p:nvPr/>
        </p:nvSpPr>
        <p:spPr>
          <a:xfrm>
            <a:off x="548640" y="1691640"/>
            <a:ext cx="3520440" cy="2194560"/>
          </a:xfrm>
          <a:prstGeom prst="rect">
            <a:avLst/>
          </a:prstGeom>
          <a:solidFill>
            <a:schemeClr val="bg2"/>
          </a:solidFill>
          <a:ln w="12700">
            <a:solidFill>
              <a:schemeClr val="bg2"/>
            </a:solidFill>
            <a:prstDash val="solid"/>
          </a:ln>
        </p:spPr>
      </p:sp>
      <p:sp>
        <p:nvSpPr>
          <p:cNvPr id="5" name="Objective 1 circle"/>
          <p:cNvSpPr/>
          <p:nvPr/>
        </p:nvSpPr>
        <p:spPr>
          <a:xfrm>
            <a:off x="822960" y="1965960"/>
            <a:ext cx="640080" cy="640080"/>
          </a:xfrm>
          <a:prstGeom prst="ellipse">
            <a:avLst/>
          </a:prstGeom>
          <a:solidFill>
            <a:schemeClr val="tx2"/>
          </a:solidFill>
          <a:ln w="12700">
            <a:solidFill>
              <a:schemeClr val="tx2"/>
            </a:solidFill>
            <a:prstDash val="solid"/>
          </a:ln>
        </p:spPr>
      </p:sp>
      <p:pic>
        <p:nvPicPr>
          <p:cNvPr id="6" name="Objective 1 icon" descr="Objective 1"/>
          <p:cNvPicPr>
            <a:picLocks noChangeAspect="1"/>
          </p:cNvPicPr>
          <p:nvPr/>
        </p:nvPicPr>
        <p:blipFill>
          <a:blip r:embed="rId3"/>
          <a:stretch>
            <a:fillRect/>
          </a:stretch>
        </p:blipFill>
        <p:spPr>
          <a:xfrm>
            <a:off x="995782" y="2138782"/>
            <a:ext cx="294437" cy="294437"/>
          </a:xfrm>
          <a:prstGeom prst="rect">
            <a:avLst/>
          </a:prstGeom>
        </p:spPr>
      </p:pic>
      <p:sp>
        <p:nvSpPr>
          <p:cNvPr id="7" name="Objective number 1"/>
          <p:cNvSpPr txBox="1"/>
          <p:nvPr/>
        </p:nvSpPr>
        <p:spPr>
          <a:xfrm>
            <a:off x="2971800" y="1965960"/>
            <a:ext cx="822960" cy="640080"/>
          </a:xfrm>
          <a:prstGeom prst="rect">
            <a:avLst/>
          </a:prstGeom>
          <a:noFill/>
          <a:ln/>
        </p:spPr>
        <p:txBody>
          <a:bodyPr wrap="square" lIns="0" tIns="0" rIns="0" bIns="0" rtlCol="0" anchor="ctr"/>
          <a:lstStyle/>
          <a:p>
            <a:pPr marL="0" indent="0" algn="r">
              <a:buNone/>
            </a:pPr>
            <a:r>
              <a:rPr lang="en-US" sz="3200" b="1" dirty="0">
                <a:solidFill>
                  <a:schemeClr val="accent4"/>
                </a:solidFill>
                <a:latin typeface="Cambria" pitchFamily="34" charset="0"/>
                <a:ea typeface="Cambria" pitchFamily="34" charset="-122"/>
                <a:cs typeface="Cambria" pitchFamily="34" charset="-120"/>
              </a:rPr>
              <a:t>01</a:t>
            </a:r>
            <a:endParaRPr lang="en-US" sz="3200" dirty="0"/>
          </a:p>
        </p:txBody>
      </p:sp>
      <p:sp>
        <p:nvSpPr>
          <p:cNvPr id="8" name="Objective text 1"/>
          <p:cNvSpPr txBox="1"/>
          <p:nvPr/>
        </p:nvSpPr>
        <p:spPr>
          <a:xfrm>
            <a:off x="822960" y="2788920"/>
            <a:ext cx="3017520" cy="914400"/>
          </a:xfrm>
          <a:prstGeom prst="rect">
            <a:avLst/>
          </a:prstGeom>
          <a:noFill/>
          <a:ln/>
        </p:spPr>
        <p:txBody>
          <a:bodyPr wrap="square" lIns="0" tIns="0" rIns="0" bIns="0" rtlCol="0" anchor="t"/>
          <a:lstStyle/>
          <a:p>
            <a:pPr marL="0" indent="0">
              <a:buNone/>
            </a:pPr>
            <a:r>
              <a:rPr lang="en-US" sz="1800" dirty="0">
                <a:solidFill>
                  <a:schemeClr val="tx1"/>
                </a:solidFill>
              </a:rPr>
              <a:t>Develop an attractive restaurant website</a:t>
            </a:r>
            <a:endParaRPr lang="en-US" sz="1800" dirty="0"/>
          </a:p>
        </p:txBody>
      </p:sp>
      <p:sp>
        <p:nvSpPr>
          <p:cNvPr id="9" name="Objective card 2"/>
          <p:cNvSpPr/>
          <p:nvPr/>
        </p:nvSpPr>
        <p:spPr>
          <a:xfrm>
            <a:off x="4343400" y="1691640"/>
            <a:ext cx="3520440" cy="2194560"/>
          </a:xfrm>
          <a:prstGeom prst="rect">
            <a:avLst/>
          </a:prstGeom>
          <a:solidFill>
            <a:schemeClr val="bg2"/>
          </a:solidFill>
          <a:ln w="12700">
            <a:solidFill>
              <a:schemeClr val="bg2"/>
            </a:solidFill>
            <a:prstDash val="solid"/>
          </a:ln>
        </p:spPr>
      </p:sp>
      <p:sp>
        <p:nvSpPr>
          <p:cNvPr id="10" name="Objective 2 circle"/>
          <p:cNvSpPr/>
          <p:nvPr/>
        </p:nvSpPr>
        <p:spPr>
          <a:xfrm>
            <a:off x="4617720" y="1965960"/>
            <a:ext cx="640080" cy="640080"/>
          </a:xfrm>
          <a:prstGeom prst="ellipse">
            <a:avLst/>
          </a:prstGeom>
          <a:solidFill>
            <a:schemeClr val="tx2"/>
          </a:solidFill>
          <a:ln w="12700">
            <a:solidFill>
              <a:schemeClr val="tx2"/>
            </a:solidFill>
            <a:prstDash val="solid"/>
          </a:ln>
        </p:spPr>
      </p:sp>
      <p:pic>
        <p:nvPicPr>
          <p:cNvPr id="11" name="Objective 2 icon" descr="Objective 2"/>
          <p:cNvPicPr>
            <a:picLocks noChangeAspect="1"/>
          </p:cNvPicPr>
          <p:nvPr/>
        </p:nvPicPr>
        <p:blipFill>
          <a:blip r:embed="rId4"/>
          <a:stretch>
            <a:fillRect/>
          </a:stretch>
        </p:blipFill>
        <p:spPr>
          <a:xfrm>
            <a:off x="4790542" y="2138782"/>
            <a:ext cx="294437" cy="294437"/>
          </a:xfrm>
          <a:prstGeom prst="rect">
            <a:avLst/>
          </a:prstGeom>
        </p:spPr>
      </p:pic>
      <p:sp>
        <p:nvSpPr>
          <p:cNvPr id="12" name="Objective number 2"/>
          <p:cNvSpPr txBox="1"/>
          <p:nvPr/>
        </p:nvSpPr>
        <p:spPr>
          <a:xfrm>
            <a:off x="6766560" y="1965960"/>
            <a:ext cx="822960" cy="640080"/>
          </a:xfrm>
          <a:prstGeom prst="rect">
            <a:avLst/>
          </a:prstGeom>
          <a:noFill/>
          <a:ln/>
        </p:spPr>
        <p:txBody>
          <a:bodyPr wrap="square" lIns="0" tIns="0" rIns="0" bIns="0" rtlCol="0" anchor="ctr"/>
          <a:lstStyle/>
          <a:p>
            <a:pPr marL="0" indent="0" algn="r">
              <a:buNone/>
            </a:pPr>
            <a:r>
              <a:rPr lang="en-US" sz="3200" b="1" dirty="0">
                <a:solidFill>
                  <a:schemeClr val="accent4"/>
                </a:solidFill>
                <a:latin typeface="Cambria" pitchFamily="34" charset="0"/>
                <a:ea typeface="Cambria" pitchFamily="34" charset="-122"/>
                <a:cs typeface="Cambria" pitchFamily="34" charset="-120"/>
              </a:rPr>
              <a:t>02</a:t>
            </a:r>
            <a:endParaRPr lang="en-US" sz="3200" dirty="0"/>
          </a:p>
        </p:txBody>
      </p:sp>
      <p:sp>
        <p:nvSpPr>
          <p:cNvPr id="13" name="Objective text 2"/>
          <p:cNvSpPr txBox="1"/>
          <p:nvPr/>
        </p:nvSpPr>
        <p:spPr>
          <a:xfrm>
            <a:off x="4617720" y="2788920"/>
            <a:ext cx="3017520" cy="914400"/>
          </a:xfrm>
          <a:prstGeom prst="rect">
            <a:avLst/>
          </a:prstGeom>
          <a:noFill/>
          <a:ln/>
        </p:spPr>
        <p:txBody>
          <a:bodyPr wrap="square" lIns="0" tIns="0" rIns="0" bIns="0" rtlCol="0" anchor="t"/>
          <a:lstStyle/>
          <a:p>
            <a:pPr marL="0" indent="0">
              <a:buNone/>
            </a:pPr>
            <a:r>
              <a:rPr lang="en-US" sz="1800" dirty="0">
                <a:solidFill>
                  <a:schemeClr val="tx1"/>
                </a:solidFill>
              </a:rPr>
              <a:t>Present restaurant information clearly</a:t>
            </a:r>
            <a:endParaRPr lang="en-US" sz="1800" dirty="0"/>
          </a:p>
        </p:txBody>
      </p:sp>
      <p:sp>
        <p:nvSpPr>
          <p:cNvPr id="14" name="Objective card 3"/>
          <p:cNvSpPr/>
          <p:nvPr/>
        </p:nvSpPr>
        <p:spPr>
          <a:xfrm>
            <a:off x="8138160" y="1691640"/>
            <a:ext cx="3520440" cy="2194560"/>
          </a:xfrm>
          <a:prstGeom prst="rect">
            <a:avLst/>
          </a:prstGeom>
          <a:solidFill>
            <a:schemeClr val="bg2"/>
          </a:solidFill>
          <a:ln w="12700">
            <a:solidFill>
              <a:schemeClr val="bg2"/>
            </a:solidFill>
            <a:prstDash val="solid"/>
          </a:ln>
        </p:spPr>
      </p:sp>
      <p:sp>
        <p:nvSpPr>
          <p:cNvPr id="15" name="Objective 3 circle"/>
          <p:cNvSpPr/>
          <p:nvPr/>
        </p:nvSpPr>
        <p:spPr>
          <a:xfrm>
            <a:off x="8412480" y="1965960"/>
            <a:ext cx="640080" cy="640080"/>
          </a:xfrm>
          <a:prstGeom prst="ellipse">
            <a:avLst/>
          </a:prstGeom>
          <a:solidFill>
            <a:schemeClr val="tx2"/>
          </a:solidFill>
          <a:ln w="12700">
            <a:solidFill>
              <a:schemeClr val="tx2"/>
            </a:solidFill>
            <a:prstDash val="solid"/>
          </a:ln>
        </p:spPr>
      </p:sp>
      <p:pic>
        <p:nvPicPr>
          <p:cNvPr id="16" name="Objective 3 icon" descr="Objective 3"/>
          <p:cNvPicPr>
            <a:picLocks noChangeAspect="1"/>
          </p:cNvPicPr>
          <p:nvPr/>
        </p:nvPicPr>
        <p:blipFill>
          <a:blip r:embed="rId5"/>
          <a:stretch>
            <a:fillRect/>
          </a:stretch>
        </p:blipFill>
        <p:spPr>
          <a:xfrm>
            <a:off x="8585302" y="2138782"/>
            <a:ext cx="294437" cy="294437"/>
          </a:xfrm>
          <a:prstGeom prst="rect">
            <a:avLst/>
          </a:prstGeom>
        </p:spPr>
      </p:pic>
      <p:sp>
        <p:nvSpPr>
          <p:cNvPr id="17" name="Objective number 3"/>
          <p:cNvSpPr txBox="1"/>
          <p:nvPr/>
        </p:nvSpPr>
        <p:spPr>
          <a:xfrm>
            <a:off x="10561320" y="1965960"/>
            <a:ext cx="822960" cy="640080"/>
          </a:xfrm>
          <a:prstGeom prst="rect">
            <a:avLst/>
          </a:prstGeom>
          <a:noFill/>
          <a:ln/>
        </p:spPr>
        <p:txBody>
          <a:bodyPr wrap="square" lIns="0" tIns="0" rIns="0" bIns="0" rtlCol="0" anchor="ctr"/>
          <a:lstStyle/>
          <a:p>
            <a:pPr marL="0" indent="0" algn="r">
              <a:buNone/>
            </a:pPr>
            <a:r>
              <a:rPr lang="en-US" sz="3200" b="1" dirty="0">
                <a:solidFill>
                  <a:schemeClr val="accent4"/>
                </a:solidFill>
                <a:latin typeface="Cambria" pitchFamily="34" charset="0"/>
                <a:ea typeface="Cambria" pitchFamily="34" charset="-122"/>
                <a:cs typeface="Cambria" pitchFamily="34" charset="-120"/>
              </a:rPr>
              <a:t>03</a:t>
            </a:r>
            <a:endParaRPr lang="en-US" sz="3200" dirty="0"/>
          </a:p>
        </p:txBody>
      </p:sp>
      <p:sp>
        <p:nvSpPr>
          <p:cNvPr id="18" name="Objective text 3"/>
          <p:cNvSpPr txBox="1"/>
          <p:nvPr/>
        </p:nvSpPr>
        <p:spPr>
          <a:xfrm>
            <a:off x="8412480" y="2788920"/>
            <a:ext cx="3017520" cy="914400"/>
          </a:xfrm>
          <a:prstGeom prst="rect">
            <a:avLst/>
          </a:prstGeom>
          <a:noFill/>
          <a:ln/>
        </p:spPr>
        <p:txBody>
          <a:bodyPr wrap="square" lIns="0" tIns="0" rIns="0" bIns="0" rtlCol="0" anchor="t"/>
          <a:lstStyle/>
          <a:p>
            <a:pPr marL="0" indent="0">
              <a:buNone/>
            </a:pPr>
            <a:r>
              <a:rPr lang="en-US" sz="1800" dirty="0">
                <a:solidFill>
                  <a:schemeClr val="tx1"/>
                </a:solidFill>
              </a:rPr>
              <a:t>Display food items with images, descriptions and prices</a:t>
            </a:r>
            <a:endParaRPr lang="en-US" sz="1800" dirty="0"/>
          </a:p>
        </p:txBody>
      </p:sp>
      <p:sp>
        <p:nvSpPr>
          <p:cNvPr id="19" name="Objective card 4"/>
          <p:cNvSpPr/>
          <p:nvPr/>
        </p:nvSpPr>
        <p:spPr>
          <a:xfrm>
            <a:off x="548640" y="4114800"/>
            <a:ext cx="3520440" cy="2194560"/>
          </a:xfrm>
          <a:prstGeom prst="rect">
            <a:avLst/>
          </a:prstGeom>
          <a:solidFill>
            <a:schemeClr val="bg2"/>
          </a:solidFill>
          <a:ln w="12700">
            <a:solidFill>
              <a:schemeClr val="bg2"/>
            </a:solidFill>
            <a:prstDash val="solid"/>
          </a:ln>
        </p:spPr>
      </p:sp>
      <p:sp>
        <p:nvSpPr>
          <p:cNvPr id="20" name="Objective 4 circle"/>
          <p:cNvSpPr/>
          <p:nvPr/>
        </p:nvSpPr>
        <p:spPr>
          <a:xfrm>
            <a:off x="822960" y="4389120"/>
            <a:ext cx="640080" cy="640080"/>
          </a:xfrm>
          <a:prstGeom prst="ellipse">
            <a:avLst/>
          </a:prstGeom>
          <a:solidFill>
            <a:schemeClr val="tx2"/>
          </a:solidFill>
          <a:ln w="12700">
            <a:solidFill>
              <a:schemeClr val="tx2"/>
            </a:solidFill>
            <a:prstDash val="solid"/>
          </a:ln>
        </p:spPr>
      </p:sp>
      <p:pic>
        <p:nvPicPr>
          <p:cNvPr id="21" name="Objective 4 icon" descr="Objective 4"/>
          <p:cNvPicPr>
            <a:picLocks noChangeAspect="1"/>
          </p:cNvPicPr>
          <p:nvPr/>
        </p:nvPicPr>
        <p:blipFill>
          <a:blip r:embed="rId6"/>
          <a:stretch>
            <a:fillRect/>
          </a:stretch>
        </p:blipFill>
        <p:spPr>
          <a:xfrm>
            <a:off x="995782" y="4561942"/>
            <a:ext cx="294437" cy="294437"/>
          </a:xfrm>
          <a:prstGeom prst="rect">
            <a:avLst/>
          </a:prstGeom>
        </p:spPr>
      </p:pic>
      <p:sp>
        <p:nvSpPr>
          <p:cNvPr id="22" name="Objective number 4"/>
          <p:cNvSpPr txBox="1"/>
          <p:nvPr/>
        </p:nvSpPr>
        <p:spPr>
          <a:xfrm>
            <a:off x="2971800" y="4389120"/>
            <a:ext cx="822960" cy="640080"/>
          </a:xfrm>
          <a:prstGeom prst="rect">
            <a:avLst/>
          </a:prstGeom>
          <a:noFill/>
          <a:ln/>
        </p:spPr>
        <p:txBody>
          <a:bodyPr wrap="square" lIns="0" tIns="0" rIns="0" bIns="0" rtlCol="0" anchor="ctr"/>
          <a:lstStyle/>
          <a:p>
            <a:pPr marL="0" indent="0" algn="r">
              <a:buNone/>
            </a:pPr>
            <a:r>
              <a:rPr lang="en-US" sz="3200" b="1" dirty="0">
                <a:solidFill>
                  <a:schemeClr val="accent4"/>
                </a:solidFill>
                <a:latin typeface="Cambria" pitchFamily="34" charset="0"/>
                <a:ea typeface="Cambria" pitchFamily="34" charset="-122"/>
                <a:cs typeface="Cambria" pitchFamily="34" charset="-120"/>
              </a:rPr>
              <a:t>04</a:t>
            </a:r>
            <a:endParaRPr lang="en-US" sz="3200" dirty="0"/>
          </a:p>
        </p:txBody>
      </p:sp>
      <p:sp>
        <p:nvSpPr>
          <p:cNvPr id="23" name="Objective text 4"/>
          <p:cNvSpPr txBox="1"/>
          <p:nvPr/>
        </p:nvSpPr>
        <p:spPr>
          <a:xfrm>
            <a:off x="822960" y="5212080"/>
            <a:ext cx="3017520" cy="914400"/>
          </a:xfrm>
          <a:prstGeom prst="rect">
            <a:avLst/>
          </a:prstGeom>
          <a:noFill/>
          <a:ln/>
        </p:spPr>
        <p:txBody>
          <a:bodyPr wrap="square" lIns="0" tIns="0" rIns="0" bIns="0" rtlCol="0" anchor="t"/>
          <a:lstStyle/>
          <a:p>
            <a:pPr marL="0" indent="0">
              <a:buNone/>
            </a:pPr>
            <a:r>
              <a:rPr lang="en-US" sz="1800" dirty="0">
                <a:solidFill>
                  <a:schemeClr val="tx1"/>
                </a:solidFill>
              </a:rPr>
              <a:t>Provide a form for entering reservation preferences</a:t>
            </a:r>
            <a:endParaRPr lang="en-US" sz="1800" dirty="0"/>
          </a:p>
        </p:txBody>
      </p:sp>
      <p:sp>
        <p:nvSpPr>
          <p:cNvPr id="24" name="Objective card 5"/>
          <p:cNvSpPr/>
          <p:nvPr/>
        </p:nvSpPr>
        <p:spPr>
          <a:xfrm>
            <a:off x="4343400" y="4114800"/>
            <a:ext cx="3520440" cy="2194560"/>
          </a:xfrm>
          <a:prstGeom prst="rect">
            <a:avLst/>
          </a:prstGeom>
          <a:solidFill>
            <a:schemeClr val="bg2"/>
          </a:solidFill>
          <a:ln w="12700">
            <a:solidFill>
              <a:schemeClr val="bg2"/>
            </a:solidFill>
            <a:prstDash val="solid"/>
          </a:ln>
        </p:spPr>
      </p:sp>
      <p:sp>
        <p:nvSpPr>
          <p:cNvPr id="25" name="Objective 5 circle"/>
          <p:cNvSpPr/>
          <p:nvPr/>
        </p:nvSpPr>
        <p:spPr>
          <a:xfrm>
            <a:off x="4617720" y="4389120"/>
            <a:ext cx="640080" cy="640080"/>
          </a:xfrm>
          <a:prstGeom prst="ellipse">
            <a:avLst/>
          </a:prstGeom>
          <a:solidFill>
            <a:schemeClr val="tx2"/>
          </a:solidFill>
          <a:ln w="12700">
            <a:solidFill>
              <a:schemeClr val="tx2"/>
            </a:solidFill>
            <a:prstDash val="solid"/>
          </a:ln>
        </p:spPr>
      </p:sp>
      <p:pic>
        <p:nvPicPr>
          <p:cNvPr id="26" name="Objective 5 icon" descr="Objective 5"/>
          <p:cNvPicPr>
            <a:picLocks noChangeAspect="1"/>
          </p:cNvPicPr>
          <p:nvPr/>
        </p:nvPicPr>
        <p:blipFill>
          <a:blip r:embed="rId7"/>
          <a:stretch>
            <a:fillRect/>
          </a:stretch>
        </p:blipFill>
        <p:spPr>
          <a:xfrm>
            <a:off x="4790542" y="4561942"/>
            <a:ext cx="294437" cy="294437"/>
          </a:xfrm>
          <a:prstGeom prst="rect">
            <a:avLst/>
          </a:prstGeom>
        </p:spPr>
      </p:pic>
      <p:sp>
        <p:nvSpPr>
          <p:cNvPr id="27" name="Objective number 5"/>
          <p:cNvSpPr txBox="1"/>
          <p:nvPr/>
        </p:nvSpPr>
        <p:spPr>
          <a:xfrm>
            <a:off x="6766560" y="4389120"/>
            <a:ext cx="822960" cy="640080"/>
          </a:xfrm>
          <a:prstGeom prst="rect">
            <a:avLst/>
          </a:prstGeom>
          <a:noFill/>
          <a:ln/>
        </p:spPr>
        <p:txBody>
          <a:bodyPr wrap="square" lIns="0" tIns="0" rIns="0" bIns="0" rtlCol="0" anchor="ctr"/>
          <a:lstStyle/>
          <a:p>
            <a:pPr marL="0" indent="0" algn="r">
              <a:buNone/>
            </a:pPr>
            <a:r>
              <a:rPr lang="en-US" sz="3200" b="1" dirty="0">
                <a:solidFill>
                  <a:schemeClr val="accent4"/>
                </a:solidFill>
                <a:latin typeface="Cambria" pitchFamily="34" charset="0"/>
                <a:ea typeface="Cambria" pitchFamily="34" charset="-122"/>
                <a:cs typeface="Cambria" pitchFamily="34" charset="-120"/>
              </a:rPr>
              <a:t>05</a:t>
            </a:r>
            <a:endParaRPr lang="en-US" sz="3200" dirty="0"/>
          </a:p>
        </p:txBody>
      </p:sp>
      <p:sp>
        <p:nvSpPr>
          <p:cNvPr id="28" name="Objective text 5"/>
          <p:cNvSpPr txBox="1"/>
          <p:nvPr/>
        </p:nvSpPr>
        <p:spPr>
          <a:xfrm>
            <a:off x="4617720" y="5212080"/>
            <a:ext cx="3017520" cy="914400"/>
          </a:xfrm>
          <a:prstGeom prst="rect">
            <a:avLst/>
          </a:prstGeom>
          <a:noFill/>
          <a:ln/>
        </p:spPr>
        <p:txBody>
          <a:bodyPr wrap="square" lIns="0" tIns="0" rIns="0" bIns="0" rtlCol="0" anchor="t"/>
          <a:lstStyle/>
          <a:p>
            <a:pPr marL="0" indent="0">
              <a:buNone/>
            </a:pPr>
            <a:r>
              <a:rPr lang="en-US" sz="1800" dirty="0">
                <a:solidFill>
                  <a:schemeClr val="tx1"/>
                </a:solidFill>
              </a:rPr>
              <a:t>Create a responsive layout for different screen sizes</a:t>
            </a:r>
            <a:endParaRPr lang="en-US" sz="1800" dirty="0"/>
          </a:p>
        </p:txBody>
      </p:sp>
      <p:sp>
        <p:nvSpPr>
          <p:cNvPr id="29" name="Objective card 6"/>
          <p:cNvSpPr/>
          <p:nvPr/>
        </p:nvSpPr>
        <p:spPr>
          <a:xfrm>
            <a:off x="8138160" y="4114800"/>
            <a:ext cx="3520440" cy="2194560"/>
          </a:xfrm>
          <a:prstGeom prst="rect">
            <a:avLst/>
          </a:prstGeom>
          <a:solidFill>
            <a:schemeClr val="bg2"/>
          </a:solidFill>
          <a:ln w="12700">
            <a:solidFill>
              <a:schemeClr val="bg2"/>
            </a:solidFill>
            <a:prstDash val="solid"/>
          </a:ln>
        </p:spPr>
      </p:sp>
      <p:sp>
        <p:nvSpPr>
          <p:cNvPr id="30" name="Objective 6 circle"/>
          <p:cNvSpPr/>
          <p:nvPr/>
        </p:nvSpPr>
        <p:spPr>
          <a:xfrm>
            <a:off x="8412480" y="4389120"/>
            <a:ext cx="640080" cy="640080"/>
          </a:xfrm>
          <a:prstGeom prst="ellipse">
            <a:avLst/>
          </a:prstGeom>
          <a:solidFill>
            <a:schemeClr val="tx2"/>
          </a:solidFill>
          <a:ln w="12700">
            <a:solidFill>
              <a:schemeClr val="tx2"/>
            </a:solidFill>
            <a:prstDash val="solid"/>
          </a:ln>
        </p:spPr>
      </p:sp>
      <p:pic>
        <p:nvPicPr>
          <p:cNvPr id="31" name="Objective 6 icon" descr="Objective 6"/>
          <p:cNvPicPr>
            <a:picLocks noChangeAspect="1"/>
          </p:cNvPicPr>
          <p:nvPr/>
        </p:nvPicPr>
        <p:blipFill>
          <a:blip r:embed="rId8"/>
          <a:stretch>
            <a:fillRect/>
          </a:stretch>
        </p:blipFill>
        <p:spPr>
          <a:xfrm>
            <a:off x="8585302" y="4561942"/>
            <a:ext cx="294437" cy="294437"/>
          </a:xfrm>
          <a:prstGeom prst="rect">
            <a:avLst/>
          </a:prstGeom>
        </p:spPr>
      </p:pic>
      <p:sp>
        <p:nvSpPr>
          <p:cNvPr id="32" name="Objective number 6"/>
          <p:cNvSpPr txBox="1"/>
          <p:nvPr/>
        </p:nvSpPr>
        <p:spPr>
          <a:xfrm>
            <a:off x="10561320" y="4389120"/>
            <a:ext cx="822960" cy="640080"/>
          </a:xfrm>
          <a:prstGeom prst="rect">
            <a:avLst/>
          </a:prstGeom>
          <a:noFill/>
          <a:ln/>
        </p:spPr>
        <p:txBody>
          <a:bodyPr wrap="square" lIns="0" tIns="0" rIns="0" bIns="0" rtlCol="0" anchor="ctr"/>
          <a:lstStyle/>
          <a:p>
            <a:pPr marL="0" indent="0" algn="r">
              <a:buNone/>
            </a:pPr>
            <a:r>
              <a:rPr lang="en-US" sz="3200" b="1" dirty="0">
                <a:solidFill>
                  <a:schemeClr val="accent4"/>
                </a:solidFill>
                <a:latin typeface="Cambria" pitchFamily="34" charset="0"/>
                <a:ea typeface="Cambria" pitchFamily="34" charset="-122"/>
                <a:cs typeface="Cambria" pitchFamily="34" charset="-120"/>
              </a:rPr>
              <a:t>06</a:t>
            </a:r>
            <a:endParaRPr lang="en-US" sz="3200" dirty="0"/>
          </a:p>
        </p:txBody>
      </p:sp>
      <p:sp>
        <p:nvSpPr>
          <p:cNvPr id="33" name="Objective text 6"/>
          <p:cNvSpPr txBox="1"/>
          <p:nvPr/>
        </p:nvSpPr>
        <p:spPr>
          <a:xfrm>
            <a:off x="8412480" y="5212080"/>
            <a:ext cx="3017520" cy="914400"/>
          </a:xfrm>
          <a:prstGeom prst="rect">
            <a:avLst/>
          </a:prstGeom>
          <a:noFill/>
          <a:ln/>
        </p:spPr>
        <p:txBody>
          <a:bodyPr wrap="square" lIns="0" tIns="0" rIns="0" bIns="0" rtlCol="0" anchor="t"/>
          <a:lstStyle/>
          <a:p>
            <a:pPr marL="0" indent="0">
              <a:buNone/>
            </a:pPr>
            <a:r>
              <a:rPr lang="en-US" sz="1800" dirty="0">
                <a:solidFill>
                  <a:schemeClr val="tx1"/>
                </a:solidFill>
              </a:rPr>
              <a:t>Improve usability with clear navigation and visual design</a:t>
            </a:r>
            <a:endParaRPr lang="en-US" sz="1800" dirty="0"/>
          </a:p>
        </p:txBody>
      </p:sp>
      <p:sp>
        <p:nvSpPr>
          <p:cNvPr id="34"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3</a:t>
            </a:fld>
            <a:endParaRPr lang="en-US"/>
          </a:p>
        </p:txBody>
      </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65760"/>
            <a:ext cx="7315200" cy="274320"/>
          </a:xfrm>
          <a:prstGeom prst="rect">
            <a:avLst/>
          </a:prstGeom>
          <a:noFill/>
          <a:ln/>
        </p:spPr>
        <p:txBody>
          <a:bodyPr wrap="square" lIns="0" tIns="0" rIns="0" bIns="0" rtlCol="0" anchor="ctr"/>
          <a:lstStyle/>
          <a:p>
            <a:pPr marL="0" indent="0">
              <a:buNone/>
            </a:pPr>
            <a:r>
              <a:rPr lang="en-US" sz="1400" b="1" kern="0" spc="400" dirty="0">
                <a:solidFill>
                  <a:schemeClr val="accent4"/>
                </a:solidFill>
              </a:rPr>
              <a:t>TECHNOLOGIES</a:t>
            </a:r>
            <a:endParaRPr lang="en-US" sz="1400" dirty="0"/>
          </a:p>
        </p:txBody>
      </p:sp>
      <p:sp>
        <p:nvSpPr>
          <p:cNvPr id="3" name="Text 0"/>
          <p:cNvSpPr>
            <a:spLocks noGrp="1"/>
          </p:cNvSpPr>
          <p:nvPr>
            <p:ph type="title" idx="101" hasCustomPrompt="1"/>
          </p:nvPr>
        </p:nvSpPr>
        <p:spPr>
          <a:xfrm>
            <a:off x="548640" y="68580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Technology Stack</a:t>
            </a:r>
            <a:endParaRPr lang="en-US" sz="3400" dirty="0"/>
          </a:p>
        </p:txBody>
      </p:sp>
      <p:sp>
        <p:nvSpPr>
          <p:cNvPr id="4" name="Tech name block 1"/>
          <p:cNvSpPr/>
          <p:nvPr/>
        </p:nvSpPr>
        <p:spPr>
          <a:xfrm>
            <a:off x="548640" y="1691640"/>
            <a:ext cx="3383280" cy="676656"/>
          </a:xfrm>
          <a:prstGeom prst="rect">
            <a:avLst/>
          </a:prstGeom>
          <a:solidFill>
            <a:schemeClr val="tx2"/>
          </a:solidFill>
          <a:ln w="12700">
            <a:solidFill>
              <a:schemeClr val="tx2"/>
            </a:solidFill>
            <a:prstDash val="solid"/>
          </a:ln>
        </p:spPr>
      </p:sp>
      <p:pic>
        <p:nvPicPr>
          <p:cNvPr id="5" name="Tech icon 1" descr="HTML5 icon"/>
          <p:cNvPicPr>
            <a:picLocks noChangeAspect="1"/>
          </p:cNvPicPr>
          <p:nvPr/>
        </p:nvPicPr>
        <p:blipFill>
          <a:blip r:embed="rId3"/>
          <a:stretch>
            <a:fillRect/>
          </a:stretch>
        </p:blipFill>
        <p:spPr>
          <a:xfrm>
            <a:off x="731520" y="1847088"/>
            <a:ext cx="365760" cy="365760"/>
          </a:xfrm>
          <a:prstGeom prst="rect">
            <a:avLst/>
          </a:prstGeom>
        </p:spPr>
      </p:pic>
      <p:sp>
        <p:nvSpPr>
          <p:cNvPr id="6" name="Tech name 1"/>
          <p:cNvSpPr txBox="1"/>
          <p:nvPr/>
        </p:nvSpPr>
        <p:spPr>
          <a:xfrm>
            <a:off x="1280160" y="1691640"/>
            <a:ext cx="2606040" cy="676656"/>
          </a:xfrm>
          <a:prstGeom prst="rect">
            <a:avLst/>
          </a:prstGeom>
          <a:noFill/>
          <a:ln/>
        </p:spPr>
        <p:txBody>
          <a:bodyPr wrap="square" lIns="0" tIns="0" rIns="0" bIns="0" rtlCol="0" anchor="ctr"/>
          <a:lstStyle/>
          <a:p>
            <a:pPr marL="0" indent="0">
              <a:buNone/>
            </a:pPr>
            <a:r>
              <a:rPr lang="en-US" sz="1800" b="1" dirty="0">
                <a:solidFill>
                  <a:schemeClr val="bg1"/>
                </a:solidFill>
              </a:rPr>
              <a:t>HTML5</a:t>
            </a:r>
            <a:endParaRPr lang="en-US" sz="1800" dirty="0"/>
          </a:p>
        </p:txBody>
      </p:sp>
      <p:sp>
        <p:nvSpPr>
          <p:cNvPr id="7" name="Tech description block 1"/>
          <p:cNvSpPr/>
          <p:nvPr/>
        </p:nvSpPr>
        <p:spPr>
          <a:xfrm>
            <a:off x="3931920" y="1691640"/>
            <a:ext cx="4023360" cy="676656"/>
          </a:xfrm>
          <a:prstGeom prst="rect">
            <a:avLst/>
          </a:prstGeom>
          <a:solidFill>
            <a:schemeClr val="bg2"/>
          </a:solidFill>
          <a:ln w="12700">
            <a:solidFill>
              <a:schemeClr val="bg2"/>
            </a:solidFill>
            <a:prstDash val="solid"/>
          </a:ln>
        </p:spPr>
      </p:sp>
      <p:sp>
        <p:nvSpPr>
          <p:cNvPr id="8" name="Tech description 1"/>
          <p:cNvSpPr txBox="1"/>
          <p:nvPr/>
        </p:nvSpPr>
        <p:spPr>
          <a:xfrm>
            <a:off x="4114800" y="1691640"/>
            <a:ext cx="3703320" cy="676656"/>
          </a:xfrm>
          <a:prstGeom prst="rect">
            <a:avLst/>
          </a:prstGeom>
          <a:noFill/>
          <a:ln/>
        </p:spPr>
        <p:txBody>
          <a:bodyPr wrap="square" lIns="0" tIns="0" rIns="0" bIns="0" rtlCol="0" anchor="ctr"/>
          <a:lstStyle/>
          <a:p>
            <a:pPr marL="0" indent="0">
              <a:buNone/>
            </a:pPr>
            <a:r>
              <a:rPr lang="en-US" sz="1600" dirty="0">
                <a:solidFill>
                  <a:schemeClr val="tx1"/>
                </a:solidFill>
              </a:rPr>
              <a:t>Website structure and content</a:t>
            </a:r>
            <a:endParaRPr lang="en-US" sz="1600" dirty="0"/>
          </a:p>
        </p:txBody>
      </p:sp>
      <p:sp>
        <p:nvSpPr>
          <p:cNvPr id="9" name="Tech name block 2"/>
          <p:cNvSpPr/>
          <p:nvPr/>
        </p:nvSpPr>
        <p:spPr>
          <a:xfrm>
            <a:off x="548640" y="2459736"/>
            <a:ext cx="3383280" cy="676656"/>
          </a:xfrm>
          <a:prstGeom prst="rect">
            <a:avLst/>
          </a:prstGeom>
          <a:solidFill>
            <a:schemeClr val="tx2"/>
          </a:solidFill>
          <a:ln w="12700">
            <a:solidFill>
              <a:schemeClr val="tx2"/>
            </a:solidFill>
            <a:prstDash val="solid"/>
          </a:ln>
        </p:spPr>
      </p:sp>
      <p:pic>
        <p:nvPicPr>
          <p:cNvPr id="10" name="Tech icon 2" descr="CSS3 icon"/>
          <p:cNvPicPr>
            <a:picLocks noChangeAspect="1"/>
          </p:cNvPicPr>
          <p:nvPr/>
        </p:nvPicPr>
        <p:blipFill>
          <a:blip r:embed="rId4"/>
          <a:stretch>
            <a:fillRect/>
          </a:stretch>
        </p:blipFill>
        <p:spPr>
          <a:xfrm>
            <a:off x="731520" y="2615184"/>
            <a:ext cx="365760" cy="365760"/>
          </a:xfrm>
          <a:prstGeom prst="rect">
            <a:avLst/>
          </a:prstGeom>
        </p:spPr>
      </p:pic>
      <p:sp>
        <p:nvSpPr>
          <p:cNvPr id="11" name="Tech name 2"/>
          <p:cNvSpPr txBox="1"/>
          <p:nvPr/>
        </p:nvSpPr>
        <p:spPr>
          <a:xfrm>
            <a:off x="1280160" y="2459736"/>
            <a:ext cx="2606040" cy="676656"/>
          </a:xfrm>
          <a:prstGeom prst="rect">
            <a:avLst/>
          </a:prstGeom>
          <a:noFill/>
          <a:ln/>
        </p:spPr>
        <p:txBody>
          <a:bodyPr wrap="square" lIns="0" tIns="0" rIns="0" bIns="0" rtlCol="0" anchor="ctr"/>
          <a:lstStyle/>
          <a:p>
            <a:pPr marL="0" indent="0">
              <a:buNone/>
            </a:pPr>
            <a:r>
              <a:rPr lang="en-US" sz="1800" b="1" dirty="0">
                <a:solidFill>
                  <a:schemeClr val="bg1"/>
                </a:solidFill>
              </a:rPr>
              <a:t>CSS3</a:t>
            </a:r>
            <a:endParaRPr lang="en-US" sz="1800" dirty="0"/>
          </a:p>
        </p:txBody>
      </p:sp>
      <p:sp>
        <p:nvSpPr>
          <p:cNvPr id="12" name="Tech description block 2"/>
          <p:cNvSpPr/>
          <p:nvPr/>
        </p:nvSpPr>
        <p:spPr>
          <a:xfrm>
            <a:off x="3931920" y="2459736"/>
            <a:ext cx="4023360" cy="676656"/>
          </a:xfrm>
          <a:prstGeom prst="rect">
            <a:avLst/>
          </a:prstGeom>
          <a:solidFill>
            <a:schemeClr val="bg2"/>
          </a:solidFill>
          <a:ln w="12700">
            <a:solidFill>
              <a:schemeClr val="bg2"/>
            </a:solidFill>
            <a:prstDash val="solid"/>
          </a:ln>
        </p:spPr>
      </p:sp>
      <p:sp>
        <p:nvSpPr>
          <p:cNvPr id="13" name="Tech description 2"/>
          <p:cNvSpPr txBox="1"/>
          <p:nvPr/>
        </p:nvSpPr>
        <p:spPr>
          <a:xfrm>
            <a:off x="4114800" y="2459736"/>
            <a:ext cx="3703320" cy="676656"/>
          </a:xfrm>
          <a:prstGeom prst="rect">
            <a:avLst/>
          </a:prstGeom>
          <a:noFill/>
          <a:ln/>
        </p:spPr>
        <p:txBody>
          <a:bodyPr wrap="square" lIns="0" tIns="0" rIns="0" bIns="0" rtlCol="0" anchor="ctr"/>
          <a:lstStyle/>
          <a:p>
            <a:pPr marL="0" indent="0">
              <a:buNone/>
            </a:pPr>
            <a:r>
              <a:rPr lang="en-US" sz="1600" dirty="0">
                <a:solidFill>
                  <a:schemeClr val="tx1"/>
                </a:solidFill>
              </a:rPr>
              <a:t>Colors, typography, layout, spacing and responsive styling</a:t>
            </a:r>
            <a:endParaRPr lang="en-US" sz="1600" dirty="0"/>
          </a:p>
        </p:txBody>
      </p:sp>
      <p:sp>
        <p:nvSpPr>
          <p:cNvPr id="14" name="Tech name block 3"/>
          <p:cNvSpPr/>
          <p:nvPr/>
        </p:nvSpPr>
        <p:spPr>
          <a:xfrm>
            <a:off x="548640" y="3227832"/>
            <a:ext cx="3383280" cy="676656"/>
          </a:xfrm>
          <a:prstGeom prst="rect">
            <a:avLst/>
          </a:prstGeom>
          <a:solidFill>
            <a:schemeClr val="tx2"/>
          </a:solidFill>
          <a:ln w="12700">
            <a:solidFill>
              <a:schemeClr val="tx2"/>
            </a:solidFill>
            <a:prstDash val="solid"/>
          </a:ln>
        </p:spPr>
      </p:sp>
      <p:pic>
        <p:nvPicPr>
          <p:cNvPr id="15" name="Tech icon 3" descr="Bootstrap icon"/>
          <p:cNvPicPr>
            <a:picLocks noChangeAspect="1"/>
          </p:cNvPicPr>
          <p:nvPr/>
        </p:nvPicPr>
        <p:blipFill>
          <a:blip r:embed="rId5"/>
          <a:stretch>
            <a:fillRect/>
          </a:stretch>
        </p:blipFill>
        <p:spPr>
          <a:xfrm>
            <a:off x="731520" y="3383280"/>
            <a:ext cx="365760" cy="365760"/>
          </a:xfrm>
          <a:prstGeom prst="rect">
            <a:avLst/>
          </a:prstGeom>
        </p:spPr>
      </p:pic>
      <p:sp>
        <p:nvSpPr>
          <p:cNvPr id="16" name="Tech name 3"/>
          <p:cNvSpPr txBox="1"/>
          <p:nvPr/>
        </p:nvSpPr>
        <p:spPr>
          <a:xfrm>
            <a:off x="1280160" y="3227832"/>
            <a:ext cx="2606040" cy="676656"/>
          </a:xfrm>
          <a:prstGeom prst="rect">
            <a:avLst/>
          </a:prstGeom>
          <a:noFill/>
          <a:ln/>
        </p:spPr>
        <p:txBody>
          <a:bodyPr wrap="square" lIns="0" tIns="0" rIns="0" bIns="0" rtlCol="0" anchor="ctr"/>
          <a:lstStyle/>
          <a:p>
            <a:pPr marL="0" indent="0">
              <a:buNone/>
            </a:pPr>
            <a:r>
              <a:rPr lang="en-US" sz="1800" b="1" dirty="0">
                <a:solidFill>
                  <a:schemeClr val="bg1"/>
                </a:solidFill>
              </a:rPr>
              <a:t>Bootstrap</a:t>
            </a:r>
            <a:endParaRPr lang="en-US" sz="1800" dirty="0"/>
          </a:p>
          <a:p>
            <a:pPr marL="0" indent="0">
              <a:buNone/>
            </a:pPr>
            <a:r>
              <a:rPr lang="en-US" sz="1400" dirty="0">
                <a:solidFill>
                  <a:schemeClr val="accent1"/>
                </a:solidFill>
              </a:rPr>
              <a:t>Version 5.3.3</a:t>
            </a:r>
            <a:endParaRPr lang="en-US" sz="1800" dirty="0"/>
          </a:p>
        </p:txBody>
      </p:sp>
      <p:sp>
        <p:nvSpPr>
          <p:cNvPr id="17" name="Tech description block 3"/>
          <p:cNvSpPr/>
          <p:nvPr/>
        </p:nvSpPr>
        <p:spPr>
          <a:xfrm>
            <a:off x="3931920" y="3227832"/>
            <a:ext cx="4023360" cy="676656"/>
          </a:xfrm>
          <a:prstGeom prst="rect">
            <a:avLst/>
          </a:prstGeom>
          <a:solidFill>
            <a:schemeClr val="bg2"/>
          </a:solidFill>
          <a:ln w="12700">
            <a:solidFill>
              <a:schemeClr val="bg2"/>
            </a:solidFill>
            <a:prstDash val="solid"/>
          </a:ln>
        </p:spPr>
      </p:sp>
      <p:sp>
        <p:nvSpPr>
          <p:cNvPr id="18" name="Tech description 3"/>
          <p:cNvSpPr txBox="1"/>
          <p:nvPr/>
        </p:nvSpPr>
        <p:spPr>
          <a:xfrm>
            <a:off x="4114800" y="3227832"/>
            <a:ext cx="3703320" cy="676656"/>
          </a:xfrm>
          <a:prstGeom prst="rect">
            <a:avLst/>
          </a:prstGeom>
          <a:noFill/>
          <a:ln/>
        </p:spPr>
        <p:txBody>
          <a:bodyPr wrap="square" lIns="0" tIns="0" rIns="0" bIns="0" rtlCol="0" anchor="ctr"/>
          <a:lstStyle/>
          <a:p>
            <a:pPr marL="0" indent="0">
              <a:buNone/>
            </a:pPr>
            <a:r>
              <a:rPr lang="en-US" sz="1600" dirty="0">
                <a:solidFill>
                  <a:schemeClr val="tx1"/>
                </a:solidFill>
              </a:rPr>
              <a:t>Responsive grid and reusable interface components</a:t>
            </a:r>
            <a:endParaRPr lang="en-US" sz="1600" dirty="0"/>
          </a:p>
        </p:txBody>
      </p:sp>
      <p:sp>
        <p:nvSpPr>
          <p:cNvPr id="19" name="Tech name block 4"/>
          <p:cNvSpPr/>
          <p:nvPr/>
        </p:nvSpPr>
        <p:spPr>
          <a:xfrm>
            <a:off x="548640" y="3995928"/>
            <a:ext cx="3383280" cy="676656"/>
          </a:xfrm>
          <a:prstGeom prst="rect">
            <a:avLst/>
          </a:prstGeom>
          <a:solidFill>
            <a:schemeClr val="tx2"/>
          </a:solidFill>
          <a:ln w="12700">
            <a:solidFill>
              <a:schemeClr val="tx2"/>
            </a:solidFill>
            <a:prstDash val="solid"/>
          </a:ln>
        </p:spPr>
      </p:sp>
      <p:pic>
        <p:nvPicPr>
          <p:cNvPr id="20" name="Tech icon 4" descr="Bootstrap Icons icon"/>
          <p:cNvPicPr>
            <a:picLocks noChangeAspect="1"/>
          </p:cNvPicPr>
          <p:nvPr/>
        </p:nvPicPr>
        <p:blipFill>
          <a:blip r:embed="rId6"/>
          <a:stretch>
            <a:fillRect/>
          </a:stretch>
        </p:blipFill>
        <p:spPr>
          <a:xfrm>
            <a:off x="731520" y="4151376"/>
            <a:ext cx="365760" cy="365760"/>
          </a:xfrm>
          <a:prstGeom prst="rect">
            <a:avLst/>
          </a:prstGeom>
        </p:spPr>
      </p:pic>
      <p:sp>
        <p:nvSpPr>
          <p:cNvPr id="21" name="Tech name 4"/>
          <p:cNvSpPr txBox="1"/>
          <p:nvPr/>
        </p:nvSpPr>
        <p:spPr>
          <a:xfrm>
            <a:off x="1280160" y="3995928"/>
            <a:ext cx="2606040" cy="676656"/>
          </a:xfrm>
          <a:prstGeom prst="rect">
            <a:avLst/>
          </a:prstGeom>
          <a:noFill/>
          <a:ln/>
        </p:spPr>
        <p:txBody>
          <a:bodyPr wrap="square" lIns="0" tIns="0" rIns="0" bIns="0" rtlCol="0" anchor="ctr"/>
          <a:lstStyle/>
          <a:p>
            <a:pPr marL="0" indent="0">
              <a:buNone/>
            </a:pPr>
            <a:r>
              <a:rPr lang="en-US" sz="1800" b="1" dirty="0">
                <a:solidFill>
                  <a:schemeClr val="bg1"/>
                </a:solidFill>
              </a:rPr>
              <a:t>Bootstrap Icons</a:t>
            </a:r>
            <a:endParaRPr lang="en-US" sz="1800" dirty="0"/>
          </a:p>
          <a:p>
            <a:pPr marL="0" indent="0">
              <a:buNone/>
            </a:pPr>
            <a:r>
              <a:rPr lang="en-US" sz="1400" dirty="0">
                <a:solidFill>
                  <a:schemeClr val="accent1"/>
                </a:solidFill>
              </a:rPr>
              <a:t>Version 1.11.3</a:t>
            </a:r>
            <a:endParaRPr lang="en-US" sz="1800" dirty="0"/>
          </a:p>
        </p:txBody>
      </p:sp>
      <p:sp>
        <p:nvSpPr>
          <p:cNvPr id="22" name="Tech description block 4"/>
          <p:cNvSpPr/>
          <p:nvPr/>
        </p:nvSpPr>
        <p:spPr>
          <a:xfrm>
            <a:off x="3931920" y="3995928"/>
            <a:ext cx="4023360" cy="676656"/>
          </a:xfrm>
          <a:prstGeom prst="rect">
            <a:avLst/>
          </a:prstGeom>
          <a:solidFill>
            <a:schemeClr val="bg2"/>
          </a:solidFill>
          <a:ln w="12700">
            <a:solidFill>
              <a:schemeClr val="bg2"/>
            </a:solidFill>
            <a:prstDash val="solid"/>
          </a:ln>
        </p:spPr>
      </p:sp>
      <p:sp>
        <p:nvSpPr>
          <p:cNvPr id="23" name="Tech description 4"/>
          <p:cNvSpPr txBox="1"/>
          <p:nvPr/>
        </p:nvSpPr>
        <p:spPr>
          <a:xfrm>
            <a:off x="4114800" y="3995928"/>
            <a:ext cx="3703320" cy="676656"/>
          </a:xfrm>
          <a:prstGeom prst="rect">
            <a:avLst/>
          </a:prstGeom>
          <a:noFill/>
          <a:ln/>
        </p:spPr>
        <p:txBody>
          <a:bodyPr wrap="square" lIns="0" tIns="0" rIns="0" bIns="0" rtlCol="0" anchor="ctr"/>
          <a:lstStyle/>
          <a:p>
            <a:pPr marL="0" indent="0">
              <a:buNone/>
            </a:pPr>
            <a:r>
              <a:rPr lang="en-US" sz="1600" dirty="0">
                <a:solidFill>
                  <a:schemeClr val="tx1"/>
                </a:solidFill>
              </a:rPr>
              <a:t>Icons for interface elements</a:t>
            </a:r>
            <a:endParaRPr lang="en-US" sz="1600" dirty="0"/>
          </a:p>
        </p:txBody>
      </p:sp>
      <p:sp>
        <p:nvSpPr>
          <p:cNvPr id="24" name="Tech name block 5"/>
          <p:cNvSpPr/>
          <p:nvPr/>
        </p:nvSpPr>
        <p:spPr>
          <a:xfrm>
            <a:off x="548640" y="4764024"/>
            <a:ext cx="3383280" cy="676656"/>
          </a:xfrm>
          <a:prstGeom prst="rect">
            <a:avLst/>
          </a:prstGeom>
          <a:solidFill>
            <a:schemeClr val="tx2"/>
          </a:solidFill>
          <a:ln w="12700">
            <a:solidFill>
              <a:schemeClr val="tx2"/>
            </a:solidFill>
            <a:prstDash val="solid"/>
          </a:ln>
        </p:spPr>
      </p:sp>
      <p:pic>
        <p:nvPicPr>
          <p:cNvPr id="25" name="Tech icon 5" descr="Google Fonts icon"/>
          <p:cNvPicPr>
            <a:picLocks noChangeAspect="1"/>
          </p:cNvPicPr>
          <p:nvPr/>
        </p:nvPicPr>
        <p:blipFill>
          <a:blip r:embed="rId7"/>
          <a:stretch>
            <a:fillRect/>
          </a:stretch>
        </p:blipFill>
        <p:spPr>
          <a:xfrm>
            <a:off x="731520" y="4919472"/>
            <a:ext cx="365760" cy="365760"/>
          </a:xfrm>
          <a:prstGeom prst="rect">
            <a:avLst/>
          </a:prstGeom>
        </p:spPr>
      </p:pic>
      <p:sp>
        <p:nvSpPr>
          <p:cNvPr id="26" name="Tech name 5"/>
          <p:cNvSpPr txBox="1"/>
          <p:nvPr/>
        </p:nvSpPr>
        <p:spPr>
          <a:xfrm>
            <a:off x="1280160" y="4764024"/>
            <a:ext cx="2606040" cy="676656"/>
          </a:xfrm>
          <a:prstGeom prst="rect">
            <a:avLst/>
          </a:prstGeom>
          <a:noFill/>
          <a:ln/>
        </p:spPr>
        <p:txBody>
          <a:bodyPr wrap="square" lIns="0" tIns="0" rIns="0" bIns="0" rtlCol="0" anchor="ctr"/>
          <a:lstStyle/>
          <a:p>
            <a:pPr marL="0" indent="0">
              <a:buNone/>
            </a:pPr>
            <a:r>
              <a:rPr lang="en-US" sz="1800" b="1" dirty="0">
                <a:solidFill>
                  <a:schemeClr val="bg1"/>
                </a:solidFill>
              </a:rPr>
              <a:t>Google Fonts</a:t>
            </a:r>
            <a:endParaRPr lang="en-US" sz="1800" dirty="0"/>
          </a:p>
        </p:txBody>
      </p:sp>
      <p:sp>
        <p:nvSpPr>
          <p:cNvPr id="27" name="Tech description block 5"/>
          <p:cNvSpPr/>
          <p:nvPr/>
        </p:nvSpPr>
        <p:spPr>
          <a:xfrm>
            <a:off x="3931920" y="4764024"/>
            <a:ext cx="4023360" cy="676656"/>
          </a:xfrm>
          <a:prstGeom prst="rect">
            <a:avLst/>
          </a:prstGeom>
          <a:solidFill>
            <a:schemeClr val="bg2"/>
          </a:solidFill>
          <a:ln w="12700">
            <a:solidFill>
              <a:schemeClr val="bg2"/>
            </a:solidFill>
            <a:prstDash val="solid"/>
          </a:ln>
        </p:spPr>
      </p:sp>
      <p:sp>
        <p:nvSpPr>
          <p:cNvPr id="28" name="Tech description 5"/>
          <p:cNvSpPr txBox="1"/>
          <p:nvPr/>
        </p:nvSpPr>
        <p:spPr>
          <a:xfrm>
            <a:off x="4114800" y="4764024"/>
            <a:ext cx="3703320" cy="676656"/>
          </a:xfrm>
          <a:prstGeom prst="rect">
            <a:avLst/>
          </a:prstGeom>
          <a:noFill/>
          <a:ln/>
        </p:spPr>
        <p:txBody>
          <a:bodyPr wrap="square" lIns="0" tIns="0" rIns="0" bIns="0" rtlCol="0" anchor="ctr"/>
          <a:lstStyle/>
          <a:p>
            <a:pPr marL="0" indent="0">
              <a:buNone/>
            </a:pPr>
            <a:r>
              <a:rPr lang="en-US" sz="1600" dirty="0">
                <a:solidFill>
                  <a:schemeClr val="tx1"/>
                </a:solidFill>
              </a:rPr>
              <a:t>Playfair Display and DM Sans typography</a:t>
            </a:r>
            <a:endParaRPr lang="en-US" sz="1600" dirty="0"/>
          </a:p>
        </p:txBody>
      </p:sp>
      <p:sp>
        <p:nvSpPr>
          <p:cNvPr id="34" name="Front-end note card"/>
          <p:cNvSpPr/>
          <p:nvPr/>
        </p:nvSpPr>
        <p:spPr>
          <a:xfrm>
            <a:off x="8275320" y="1691640"/>
            <a:ext cx="3364992" cy="4480560"/>
          </a:xfrm>
          <a:prstGeom prst="rect">
            <a:avLst/>
          </a:prstGeom>
          <a:solidFill>
            <a:schemeClr val="tx2"/>
          </a:solidFill>
          <a:ln w="12700">
            <a:solidFill>
              <a:schemeClr val="tx2"/>
            </a:solidFill>
            <a:prstDash val="solid"/>
          </a:ln>
        </p:spPr>
      </p:sp>
      <p:pic>
        <p:nvPicPr>
          <p:cNvPr id="35" name="Info icon" descr="Information icon"/>
          <p:cNvPicPr>
            <a:picLocks noChangeAspect="1"/>
          </p:cNvPicPr>
          <p:nvPr/>
        </p:nvPicPr>
        <p:blipFill>
          <a:blip r:embed="rId8"/>
          <a:stretch>
            <a:fillRect/>
          </a:stretch>
        </p:blipFill>
        <p:spPr>
          <a:xfrm>
            <a:off x="8641080" y="2057400"/>
            <a:ext cx="502920" cy="502920"/>
          </a:xfrm>
          <a:prstGeom prst="rect">
            <a:avLst/>
          </a:prstGeom>
        </p:spPr>
      </p:pic>
      <p:sp>
        <p:nvSpPr>
          <p:cNvPr id="36" name="Note heading"/>
          <p:cNvSpPr txBox="1"/>
          <p:nvPr/>
        </p:nvSpPr>
        <p:spPr>
          <a:xfrm>
            <a:off x="8641080" y="2788920"/>
            <a:ext cx="2743200" cy="457200"/>
          </a:xfrm>
          <a:prstGeom prst="rect">
            <a:avLst/>
          </a:prstGeom>
          <a:noFill/>
          <a:ln/>
        </p:spPr>
        <p:txBody>
          <a:bodyPr wrap="square" lIns="0" tIns="0" rIns="0" bIns="0" rtlCol="0" anchor="ctr"/>
          <a:lstStyle/>
          <a:p>
            <a:pPr marL="0" indent="0">
              <a:buNone/>
            </a:pPr>
            <a:r>
              <a:rPr lang="en-US" sz="2200" b="1" dirty="0">
                <a:solidFill>
                  <a:schemeClr val="bg1"/>
                </a:solidFill>
                <a:latin typeface="Cambria" pitchFamily="34" charset="0"/>
                <a:ea typeface="Cambria" pitchFamily="34" charset="-122"/>
                <a:cs typeface="Cambria" pitchFamily="34" charset="-120"/>
              </a:rPr>
              <a:t>Front-End Project</a:t>
            </a:r>
            <a:endParaRPr lang="en-US" sz="2200" dirty="0"/>
          </a:p>
        </p:txBody>
      </p:sp>
      <p:sp>
        <p:nvSpPr>
          <p:cNvPr id="37" name="Note text"/>
          <p:cNvSpPr txBox="1"/>
          <p:nvPr/>
        </p:nvSpPr>
        <p:spPr>
          <a:xfrm>
            <a:off x="8641080" y="3383280"/>
            <a:ext cx="2743200" cy="2377440"/>
          </a:xfrm>
          <a:prstGeom prst="rect">
            <a:avLst/>
          </a:prstGeom>
          <a:noFill/>
          <a:ln/>
        </p:spPr>
        <p:txBody>
          <a:bodyPr wrap="square" lIns="0" tIns="0" rIns="0" bIns="0" rtlCol="0" anchor="t"/>
          <a:lstStyle/>
          <a:p>
            <a:pPr marL="0" indent="0">
              <a:buNone/>
            </a:pPr>
            <a:r>
              <a:rPr lang="en-US" sz="1800" dirty="0">
                <a:solidFill>
                  <a:schemeClr val="bg2"/>
                </a:solidFill>
              </a:rPr>
              <a:t>This is a front-end website. No backend, database, authentication system or payment gateway is implemented.</a:t>
            </a:r>
            <a:endParaRPr lang="en-US" sz="1800" dirty="0"/>
          </a:p>
        </p:txBody>
      </p:sp>
      <p:sp>
        <p:nvSpPr>
          <p:cNvPr id="38"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4</a:t>
            </a:fld>
            <a:endParaRPr lang="en-US"/>
          </a:p>
        </p:txBody>
      </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65760"/>
            <a:ext cx="7315200" cy="274320"/>
          </a:xfrm>
          <a:prstGeom prst="rect">
            <a:avLst/>
          </a:prstGeom>
          <a:noFill/>
          <a:ln/>
        </p:spPr>
        <p:txBody>
          <a:bodyPr wrap="square" lIns="0" tIns="0" rIns="0" bIns="0" rtlCol="0" anchor="ctr"/>
          <a:lstStyle/>
          <a:p>
            <a:pPr marL="0" indent="0">
              <a:buNone/>
            </a:pPr>
            <a:r>
              <a:rPr lang="en-US" sz="1400" b="1" kern="0" spc="400" dirty="0">
                <a:solidFill>
                  <a:schemeClr val="accent4"/>
                </a:solidFill>
              </a:rPr>
              <a:t>MODULES</a:t>
            </a:r>
            <a:endParaRPr lang="en-US" sz="1400" dirty="0"/>
          </a:p>
        </p:txBody>
      </p:sp>
      <p:sp>
        <p:nvSpPr>
          <p:cNvPr id="3" name="Text 0"/>
          <p:cNvSpPr>
            <a:spLocks noGrp="1"/>
          </p:cNvSpPr>
          <p:nvPr>
            <p:ph type="title" idx="101" hasCustomPrompt="1"/>
          </p:nvPr>
        </p:nvSpPr>
        <p:spPr>
          <a:xfrm>
            <a:off x="548640" y="68580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Website Modules</a:t>
            </a:r>
            <a:endParaRPr lang="en-US" sz="3400" dirty="0"/>
          </a:p>
        </p:txBody>
      </p:sp>
      <p:sp>
        <p:nvSpPr>
          <p:cNvPr id="4" name="Module card 1"/>
          <p:cNvSpPr/>
          <p:nvPr/>
        </p:nvSpPr>
        <p:spPr>
          <a:xfrm>
            <a:off x="548640" y="1691640"/>
            <a:ext cx="3520440" cy="2194560"/>
          </a:xfrm>
          <a:prstGeom prst="rect">
            <a:avLst/>
          </a:prstGeom>
          <a:solidFill>
            <a:schemeClr val="bg2"/>
          </a:solidFill>
          <a:ln w="12700">
            <a:solidFill>
              <a:schemeClr val="bg2"/>
            </a:solidFill>
            <a:prstDash val="solid"/>
          </a:ln>
        </p:spPr>
      </p:sp>
      <p:sp>
        <p:nvSpPr>
          <p:cNvPr id="5" name="Module 1 circle"/>
          <p:cNvSpPr/>
          <p:nvPr/>
        </p:nvSpPr>
        <p:spPr>
          <a:xfrm>
            <a:off x="822960" y="1920240"/>
            <a:ext cx="548640" cy="548640"/>
          </a:xfrm>
          <a:prstGeom prst="ellipse">
            <a:avLst/>
          </a:prstGeom>
          <a:solidFill>
            <a:schemeClr val="tx2"/>
          </a:solidFill>
          <a:ln w="12700">
            <a:solidFill>
              <a:schemeClr val="tx2"/>
            </a:solidFill>
            <a:prstDash val="solid"/>
          </a:ln>
        </p:spPr>
      </p:sp>
      <p:pic>
        <p:nvPicPr>
          <p:cNvPr id="6" name="Module 1 icon" descr="Module 1"/>
          <p:cNvPicPr>
            <a:picLocks noChangeAspect="1"/>
          </p:cNvPicPr>
          <p:nvPr/>
        </p:nvPicPr>
        <p:blipFill>
          <a:blip r:embed="rId3"/>
          <a:stretch>
            <a:fillRect/>
          </a:stretch>
        </p:blipFill>
        <p:spPr>
          <a:xfrm>
            <a:off x="971093" y="2068373"/>
            <a:ext cx="252374" cy="252374"/>
          </a:xfrm>
          <a:prstGeom prst="rect">
            <a:avLst/>
          </a:prstGeom>
        </p:spPr>
      </p:pic>
      <p:sp>
        <p:nvSpPr>
          <p:cNvPr id="7" name="Module title 1"/>
          <p:cNvSpPr txBox="1"/>
          <p:nvPr/>
        </p:nvSpPr>
        <p:spPr>
          <a:xfrm>
            <a:off x="1554480" y="1920240"/>
            <a:ext cx="2377440" cy="54864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Home</a:t>
            </a:r>
            <a:endParaRPr lang="en-US" sz="2000" dirty="0"/>
          </a:p>
        </p:txBody>
      </p:sp>
      <p:sp>
        <p:nvSpPr>
          <p:cNvPr id="8" name="Module points 1"/>
          <p:cNvSpPr txBox="1"/>
          <p:nvPr/>
        </p:nvSpPr>
        <p:spPr>
          <a:xfrm>
            <a:off x="822960" y="2606040"/>
            <a:ext cx="3108960" cy="1188720"/>
          </a:xfrm>
          <a:prstGeom prst="rect">
            <a:avLst/>
          </a:prstGeom>
          <a:noFill/>
          <a:ln/>
        </p:spPr>
        <p:txBody>
          <a:bodyPr wrap="square" lIns="0" tIns="0" rIns="0" bIns="0" rtlCol="0" anchor="t"/>
          <a:lstStyle/>
          <a:p>
            <a:pPr marL="203200" indent="-203200">
              <a:spcAft>
                <a:spcPts val="300"/>
              </a:spcAft>
              <a:buSzPct val="100000"/>
              <a:buChar char="•"/>
            </a:pPr>
            <a:r>
              <a:rPr lang="en-US" sz="1600" dirty="0">
                <a:solidFill>
                  <a:schemeClr val="tx1"/>
                </a:solidFill>
              </a:rPr>
              <a:t>Restaurant branding</a:t>
            </a:r>
            <a:endParaRPr lang="en-US" sz="1600" dirty="0"/>
          </a:p>
          <a:p>
            <a:pPr marL="203200" indent="-203200">
              <a:spcAft>
                <a:spcPts val="300"/>
              </a:spcAft>
              <a:buSzPct val="100000"/>
              <a:buChar char="•"/>
            </a:pPr>
            <a:r>
              <a:rPr lang="en-US" sz="1600" dirty="0">
                <a:solidFill>
                  <a:schemeClr val="tx1"/>
                </a:solidFill>
              </a:rPr>
              <a:t>Welcome message</a:t>
            </a:r>
            <a:endParaRPr lang="en-US" sz="1600" dirty="0"/>
          </a:p>
          <a:p>
            <a:pPr marL="203200" indent="-203200">
              <a:spcAft>
                <a:spcPts val="300"/>
              </a:spcAft>
              <a:buSzPct val="100000"/>
              <a:buChar char="•"/>
            </a:pPr>
            <a:r>
              <a:rPr lang="en-US" sz="1600" dirty="0">
                <a:solidFill>
                  <a:schemeClr val="tx1"/>
                </a:solidFill>
              </a:rPr>
              <a:t>Navigation buttons</a:t>
            </a:r>
            <a:endParaRPr lang="en-US" sz="1600" dirty="0"/>
          </a:p>
        </p:txBody>
      </p:sp>
      <p:sp>
        <p:nvSpPr>
          <p:cNvPr id="9" name="Module card 2"/>
          <p:cNvSpPr/>
          <p:nvPr/>
        </p:nvSpPr>
        <p:spPr>
          <a:xfrm>
            <a:off x="4343400" y="1691640"/>
            <a:ext cx="3520440" cy="2194560"/>
          </a:xfrm>
          <a:prstGeom prst="rect">
            <a:avLst/>
          </a:prstGeom>
          <a:solidFill>
            <a:schemeClr val="bg2"/>
          </a:solidFill>
          <a:ln w="12700">
            <a:solidFill>
              <a:schemeClr val="bg2"/>
            </a:solidFill>
            <a:prstDash val="solid"/>
          </a:ln>
        </p:spPr>
      </p:sp>
      <p:sp>
        <p:nvSpPr>
          <p:cNvPr id="10" name="Module 2 circle"/>
          <p:cNvSpPr/>
          <p:nvPr/>
        </p:nvSpPr>
        <p:spPr>
          <a:xfrm>
            <a:off x="4617720" y="1920240"/>
            <a:ext cx="548640" cy="548640"/>
          </a:xfrm>
          <a:prstGeom prst="ellipse">
            <a:avLst/>
          </a:prstGeom>
          <a:solidFill>
            <a:schemeClr val="tx2"/>
          </a:solidFill>
          <a:ln w="12700">
            <a:solidFill>
              <a:schemeClr val="tx2"/>
            </a:solidFill>
            <a:prstDash val="solid"/>
          </a:ln>
        </p:spPr>
      </p:sp>
      <p:pic>
        <p:nvPicPr>
          <p:cNvPr id="11" name="Module 2 icon" descr="Module 2"/>
          <p:cNvPicPr>
            <a:picLocks noChangeAspect="1"/>
          </p:cNvPicPr>
          <p:nvPr/>
        </p:nvPicPr>
        <p:blipFill>
          <a:blip r:embed="rId4"/>
          <a:stretch>
            <a:fillRect/>
          </a:stretch>
        </p:blipFill>
        <p:spPr>
          <a:xfrm>
            <a:off x="4765853" y="2068373"/>
            <a:ext cx="252374" cy="252374"/>
          </a:xfrm>
          <a:prstGeom prst="rect">
            <a:avLst/>
          </a:prstGeom>
        </p:spPr>
      </p:pic>
      <p:sp>
        <p:nvSpPr>
          <p:cNvPr id="12" name="Module title 2"/>
          <p:cNvSpPr txBox="1"/>
          <p:nvPr/>
        </p:nvSpPr>
        <p:spPr>
          <a:xfrm>
            <a:off x="5349240" y="1920240"/>
            <a:ext cx="2377440" cy="54864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Restaurant Story</a:t>
            </a:r>
            <a:endParaRPr lang="en-US" sz="2000" dirty="0"/>
          </a:p>
        </p:txBody>
      </p:sp>
      <p:sp>
        <p:nvSpPr>
          <p:cNvPr id="13" name="Module points 2"/>
          <p:cNvSpPr txBox="1"/>
          <p:nvPr/>
        </p:nvSpPr>
        <p:spPr>
          <a:xfrm>
            <a:off x="4617720" y="2606040"/>
            <a:ext cx="3108960" cy="1188720"/>
          </a:xfrm>
          <a:prstGeom prst="rect">
            <a:avLst/>
          </a:prstGeom>
          <a:noFill/>
          <a:ln/>
        </p:spPr>
        <p:txBody>
          <a:bodyPr wrap="square" lIns="0" tIns="0" rIns="0" bIns="0" rtlCol="0" anchor="t"/>
          <a:lstStyle/>
          <a:p>
            <a:pPr marL="203200" indent="-203200">
              <a:spcAft>
                <a:spcPts val="300"/>
              </a:spcAft>
              <a:buSzPct val="100000"/>
              <a:buChar char="•"/>
            </a:pPr>
            <a:r>
              <a:rPr lang="en-US" sz="1600" dirty="0">
                <a:solidFill>
                  <a:schemeClr val="tx1"/>
                </a:solidFill>
              </a:rPr>
              <a:t>Restaurant introduction</a:t>
            </a:r>
            <a:endParaRPr lang="en-US" sz="1600" dirty="0"/>
          </a:p>
          <a:p>
            <a:pPr marL="203200" indent="-203200">
              <a:spcAft>
                <a:spcPts val="300"/>
              </a:spcAft>
              <a:buSzPct val="100000"/>
              <a:buChar char="•"/>
            </a:pPr>
            <a:r>
              <a:rPr lang="en-US" sz="1600" dirty="0">
                <a:solidFill>
                  <a:schemeClr val="tx1"/>
                </a:solidFill>
              </a:rPr>
              <a:t>Restaurant philosophy</a:t>
            </a:r>
            <a:endParaRPr lang="en-US" sz="1600" dirty="0"/>
          </a:p>
          <a:p>
            <a:pPr marL="203200" indent="-203200">
              <a:spcAft>
                <a:spcPts val="300"/>
              </a:spcAft>
              <a:buSzPct val="100000"/>
              <a:buChar char="•"/>
            </a:pPr>
            <a:r>
              <a:rPr lang="en-US" sz="1600" dirty="0">
                <a:solidFill>
                  <a:schemeClr val="tx1"/>
                </a:solidFill>
              </a:rPr>
              <a:t>Supporting images</a:t>
            </a:r>
            <a:endParaRPr lang="en-US" sz="1600" dirty="0"/>
          </a:p>
        </p:txBody>
      </p:sp>
      <p:sp>
        <p:nvSpPr>
          <p:cNvPr id="14" name="Module card 3"/>
          <p:cNvSpPr/>
          <p:nvPr/>
        </p:nvSpPr>
        <p:spPr>
          <a:xfrm>
            <a:off x="8138160" y="1691640"/>
            <a:ext cx="3520440" cy="2194560"/>
          </a:xfrm>
          <a:prstGeom prst="rect">
            <a:avLst/>
          </a:prstGeom>
          <a:solidFill>
            <a:schemeClr val="bg2"/>
          </a:solidFill>
          <a:ln w="12700">
            <a:solidFill>
              <a:schemeClr val="bg2"/>
            </a:solidFill>
            <a:prstDash val="solid"/>
          </a:ln>
        </p:spPr>
      </p:sp>
      <p:sp>
        <p:nvSpPr>
          <p:cNvPr id="15" name="Module 3 circle"/>
          <p:cNvSpPr/>
          <p:nvPr/>
        </p:nvSpPr>
        <p:spPr>
          <a:xfrm>
            <a:off x="8412480" y="1920240"/>
            <a:ext cx="548640" cy="548640"/>
          </a:xfrm>
          <a:prstGeom prst="ellipse">
            <a:avLst/>
          </a:prstGeom>
          <a:solidFill>
            <a:schemeClr val="tx2"/>
          </a:solidFill>
          <a:ln w="12700">
            <a:solidFill>
              <a:schemeClr val="tx2"/>
            </a:solidFill>
            <a:prstDash val="solid"/>
          </a:ln>
        </p:spPr>
      </p:sp>
      <p:pic>
        <p:nvPicPr>
          <p:cNvPr id="16" name="Module 3 icon" descr="Module 3"/>
          <p:cNvPicPr>
            <a:picLocks noChangeAspect="1"/>
          </p:cNvPicPr>
          <p:nvPr/>
        </p:nvPicPr>
        <p:blipFill>
          <a:blip r:embed="rId5"/>
          <a:stretch>
            <a:fillRect/>
          </a:stretch>
        </p:blipFill>
        <p:spPr>
          <a:xfrm>
            <a:off x="8560613" y="2068373"/>
            <a:ext cx="252374" cy="252374"/>
          </a:xfrm>
          <a:prstGeom prst="rect">
            <a:avLst/>
          </a:prstGeom>
        </p:spPr>
      </p:pic>
      <p:sp>
        <p:nvSpPr>
          <p:cNvPr id="17" name="Module title 3"/>
          <p:cNvSpPr txBox="1"/>
          <p:nvPr/>
        </p:nvSpPr>
        <p:spPr>
          <a:xfrm>
            <a:off x="9144000" y="1920240"/>
            <a:ext cx="2377440" cy="54864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Menu</a:t>
            </a:r>
            <a:endParaRPr lang="en-US" sz="2000" dirty="0"/>
          </a:p>
        </p:txBody>
      </p:sp>
      <p:sp>
        <p:nvSpPr>
          <p:cNvPr id="18" name="Module points 3"/>
          <p:cNvSpPr txBox="1"/>
          <p:nvPr/>
        </p:nvSpPr>
        <p:spPr>
          <a:xfrm>
            <a:off x="8412480" y="2606040"/>
            <a:ext cx="3108960" cy="1188720"/>
          </a:xfrm>
          <a:prstGeom prst="rect">
            <a:avLst/>
          </a:prstGeom>
          <a:noFill/>
          <a:ln/>
        </p:spPr>
        <p:txBody>
          <a:bodyPr wrap="square" lIns="0" tIns="0" rIns="0" bIns="0" rtlCol="0" anchor="t"/>
          <a:lstStyle/>
          <a:p>
            <a:pPr marL="203200" indent="-203200">
              <a:spcAft>
                <a:spcPts val="300"/>
              </a:spcAft>
              <a:buSzPct val="100000"/>
              <a:buChar char="•"/>
            </a:pPr>
            <a:r>
              <a:rPr lang="en-US" sz="1600" dirty="0">
                <a:solidFill>
                  <a:schemeClr val="tx1"/>
                </a:solidFill>
              </a:rPr>
              <a:t>Food images</a:t>
            </a:r>
            <a:endParaRPr lang="en-US" sz="1600" dirty="0"/>
          </a:p>
          <a:p>
            <a:pPr marL="203200" indent="-203200">
              <a:spcAft>
                <a:spcPts val="300"/>
              </a:spcAft>
              <a:buSzPct val="100000"/>
              <a:buChar char="•"/>
            </a:pPr>
            <a:r>
              <a:rPr lang="en-US" sz="1600" dirty="0">
                <a:solidFill>
                  <a:schemeClr val="tx1"/>
                </a:solidFill>
              </a:rPr>
              <a:t>Names and descriptions</a:t>
            </a:r>
            <a:endParaRPr lang="en-US" sz="1600" dirty="0"/>
          </a:p>
          <a:p>
            <a:pPr marL="203200" indent="-203200">
              <a:spcAft>
                <a:spcPts val="300"/>
              </a:spcAft>
              <a:buSzPct val="100000"/>
              <a:buChar char="•"/>
            </a:pPr>
            <a:r>
              <a:rPr lang="en-US" sz="1600" dirty="0">
                <a:solidFill>
                  <a:schemeClr val="tx1"/>
                </a:solidFill>
              </a:rPr>
              <a:t>Sample prices</a:t>
            </a:r>
            <a:endParaRPr lang="en-US" sz="1600" dirty="0"/>
          </a:p>
        </p:txBody>
      </p:sp>
      <p:sp>
        <p:nvSpPr>
          <p:cNvPr id="19" name="Module card 4"/>
          <p:cNvSpPr/>
          <p:nvPr/>
        </p:nvSpPr>
        <p:spPr>
          <a:xfrm>
            <a:off x="548640" y="4114800"/>
            <a:ext cx="3520440" cy="2194560"/>
          </a:xfrm>
          <a:prstGeom prst="rect">
            <a:avLst/>
          </a:prstGeom>
          <a:solidFill>
            <a:schemeClr val="bg2"/>
          </a:solidFill>
          <a:ln w="12700">
            <a:solidFill>
              <a:schemeClr val="bg2"/>
            </a:solidFill>
            <a:prstDash val="solid"/>
          </a:ln>
        </p:spPr>
      </p:sp>
      <p:sp>
        <p:nvSpPr>
          <p:cNvPr id="20" name="Module 4 circle"/>
          <p:cNvSpPr/>
          <p:nvPr/>
        </p:nvSpPr>
        <p:spPr>
          <a:xfrm>
            <a:off x="822960" y="4343400"/>
            <a:ext cx="548640" cy="548640"/>
          </a:xfrm>
          <a:prstGeom prst="ellipse">
            <a:avLst/>
          </a:prstGeom>
          <a:solidFill>
            <a:schemeClr val="tx2"/>
          </a:solidFill>
          <a:ln w="12700">
            <a:solidFill>
              <a:schemeClr val="tx2"/>
            </a:solidFill>
            <a:prstDash val="solid"/>
          </a:ln>
        </p:spPr>
      </p:sp>
      <p:pic>
        <p:nvPicPr>
          <p:cNvPr id="21" name="Module 4 icon" descr="Module 4"/>
          <p:cNvPicPr>
            <a:picLocks noChangeAspect="1"/>
          </p:cNvPicPr>
          <p:nvPr/>
        </p:nvPicPr>
        <p:blipFill>
          <a:blip r:embed="rId6"/>
          <a:stretch>
            <a:fillRect/>
          </a:stretch>
        </p:blipFill>
        <p:spPr>
          <a:xfrm>
            <a:off x="971093" y="4491533"/>
            <a:ext cx="252374" cy="252374"/>
          </a:xfrm>
          <a:prstGeom prst="rect">
            <a:avLst/>
          </a:prstGeom>
        </p:spPr>
      </p:pic>
      <p:sp>
        <p:nvSpPr>
          <p:cNvPr id="22" name="Module title 4"/>
          <p:cNvSpPr txBox="1"/>
          <p:nvPr/>
        </p:nvSpPr>
        <p:spPr>
          <a:xfrm>
            <a:off x="1554480" y="4343400"/>
            <a:ext cx="2377440" cy="54864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Dining Experience</a:t>
            </a:r>
            <a:endParaRPr lang="en-US" sz="2000" dirty="0"/>
          </a:p>
        </p:txBody>
      </p:sp>
      <p:sp>
        <p:nvSpPr>
          <p:cNvPr id="23" name="Module points 4"/>
          <p:cNvSpPr txBox="1"/>
          <p:nvPr/>
        </p:nvSpPr>
        <p:spPr>
          <a:xfrm>
            <a:off x="822960" y="5029200"/>
            <a:ext cx="3108960" cy="1188720"/>
          </a:xfrm>
          <a:prstGeom prst="rect">
            <a:avLst/>
          </a:prstGeom>
          <a:noFill/>
          <a:ln/>
        </p:spPr>
        <p:txBody>
          <a:bodyPr wrap="square" lIns="0" tIns="0" rIns="0" bIns="0" rtlCol="0" anchor="t"/>
          <a:lstStyle/>
          <a:p>
            <a:pPr marL="203200" indent="-203200">
              <a:spcAft>
                <a:spcPts val="300"/>
              </a:spcAft>
              <a:buSzPct val="100000"/>
              <a:buChar char="•"/>
            </a:pPr>
            <a:r>
              <a:rPr lang="en-US" sz="1600" dirty="0">
                <a:solidFill>
                  <a:schemeClr val="tx1"/>
                </a:solidFill>
              </a:rPr>
              <a:t>Restaurant atmosphere</a:t>
            </a:r>
            <a:endParaRPr lang="en-US" sz="1600" dirty="0"/>
          </a:p>
          <a:p>
            <a:pPr marL="203200" indent="-203200">
              <a:spcAft>
                <a:spcPts val="300"/>
              </a:spcAft>
              <a:buSzPct val="100000"/>
              <a:buChar char="•"/>
            </a:pPr>
            <a:r>
              <a:rPr lang="en-US" sz="1600" dirty="0">
                <a:solidFill>
                  <a:schemeClr val="tx1"/>
                </a:solidFill>
              </a:rPr>
              <a:t>Dining occasions</a:t>
            </a:r>
            <a:endParaRPr lang="en-US" sz="1600" dirty="0"/>
          </a:p>
          <a:p>
            <a:pPr marL="203200" indent="-203200">
              <a:spcAft>
                <a:spcPts val="300"/>
              </a:spcAft>
              <a:buSzPct val="100000"/>
              <a:buChar char="•"/>
            </a:pPr>
            <a:r>
              <a:rPr lang="en-US" sz="1600" dirty="0">
                <a:solidFill>
                  <a:schemeClr val="tx1"/>
                </a:solidFill>
              </a:rPr>
              <a:t>Hospitality</a:t>
            </a:r>
            <a:endParaRPr lang="en-US" sz="1600" dirty="0"/>
          </a:p>
        </p:txBody>
      </p:sp>
      <p:sp>
        <p:nvSpPr>
          <p:cNvPr id="24" name="Module card 5"/>
          <p:cNvSpPr/>
          <p:nvPr/>
        </p:nvSpPr>
        <p:spPr>
          <a:xfrm>
            <a:off x="4343400" y="4114800"/>
            <a:ext cx="3520440" cy="2194560"/>
          </a:xfrm>
          <a:prstGeom prst="rect">
            <a:avLst/>
          </a:prstGeom>
          <a:solidFill>
            <a:schemeClr val="bg2"/>
          </a:solidFill>
          <a:ln w="12700">
            <a:solidFill>
              <a:schemeClr val="bg2"/>
            </a:solidFill>
            <a:prstDash val="solid"/>
          </a:ln>
        </p:spPr>
      </p:sp>
      <p:sp>
        <p:nvSpPr>
          <p:cNvPr id="25" name="Module 5 circle"/>
          <p:cNvSpPr/>
          <p:nvPr/>
        </p:nvSpPr>
        <p:spPr>
          <a:xfrm>
            <a:off x="4617720" y="4343400"/>
            <a:ext cx="548640" cy="548640"/>
          </a:xfrm>
          <a:prstGeom prst="ellipse">
            <a:avLst/>
          </a:prstGeom>
          <a:solidFill>
            <a:schemeClr val="tx2"/>
          </a:solidFill>
          <a:ln w="12700">
            <a:solidFill>
              <a:schemeClr val="tx2"/>
            </a:solidFill>
            <a:prstDash val="solid"/>
          </a:ln>
        </p:spPr>
      </p:sp>
      <p:pic>
        <p:nvPicPr>
          <p:cNvPr id="26" name="Module 5 icon" descr="Module 5"/>
          <p:cNvPicPr>
            <a:picLocks noChangeAspect="1"/>
          </p:cNvPicPr>
          <p:nvPr/>
        </p:nvPicPr>
        <p:blipFill>
          <a:blip r:embed="rId7"/>
          <a:stretch>
            <a:fillRect/>
          </a:stretch>
        </p:blipFill>
        <p:spPr>
          <a:xfrm>
            <a:off x="4765853" y="4491533"/>
            <a:ext cx="252374" cy="252374"/>
          </a:xfrm>
          <a:prstGeom prst="rect">
            <a:avLst/>
          </a:prstGeom>
        </p:spPr>
      </p:pic>
      <p:sp>
        <p:nvSpPr>
          <p:cNvPr id="27" name="Module title 5"/>
          <p:cNvSpPr txBox="1"/>
          <p:nvPr/>
        </p:nvSpPr>
        <p:spPr>
          <a:xfrm>
            <a:off x="5349240" y="4343400"/>
            <a:ext cx="2377440" cy="54864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Reservation</a:t>
            </a:r>
            <a:endParaRPr lang="en-US" sz="2000" dirty="0"/>
          </a:p>
        </p:txBody>
      </p:sp>
      <p:sp>
        <p:nvSpPr>
          <p:cNvPr id="28" name="Module points 5"/>
          <p:cNvSpPr txBox="1"/>
          <p:nvPr/>
        </p:nvSpPr>
        <p:spPr>
          <a:xfrm>
            <a:off x="4617720" y="5029200"/>
            <a:ext cx="3108960" cy="1188720"/>
          </a:xfrm>
          <a:prstGeom prst="rect">
            <a:avLst/>
          </a:prstGeom>
          <a:noFill/>
          <a:ln/>
        </p:spPr>
        <p:txBody>
          <a:bodyPr wrap="square" lIns="0" tIns="0" rIns="0" bIns="0" rtlCol="0" anchor="t"/>
          <a:lstStyle/>
          <a:p>
            <a:pPr marL="203200" indent="-203200">
              <a:spcAft>
                <a:spcPts val="300"/>
              </a:spcAft>
              <a:buSzPct val="100000"/>
              <a:buChar char="•"/>
            </a:pPr>
            <a:r>
              <a:rPr lang="en-US" sz="1600" dirty="0">
                <a:solidFill>
                  <a:schemeClr val="tx1"/>
                </a:solidFill>
              </a:rPr>
              <a:t>Name and email</a:t>
            </a:r>
            <a:endParaRPr lang="en-US" sz="1600" dirty="0"/>
          </a:p>
          <a:p>
            <a:pPr marL="203200" indent="-203200">
              <a:spcAft>
                <a:spcPts val="300"/>
              </a:spcAft>
              <a:buSzPct val="100000"/>
              <a:buChar char="•"/>
            </a:pPr>
            <a:r>
              <a:rPr lang="en-US" sz="1600" dirty="0">
                <a:solidFill>
                  <a:schemeClr val="tx1"/>
                </a:solidFill>
              </a:rPr>
              <a:t>Date and time</a:t>
            </a:r>
            <a:endParaRPr lang="en-US" sz="1600" dirty="0"/>
          </a:p>
          <a:p>
            <a:pPr marL="203200" indent="-203200">
              <a:spcAft>
                <a:spcPts val="300"/>
              </a:spcAft>
              <a:buSzPct val="100000"/>
              <a:buChar char="•"/>
            </a:pPr>
            <a:r>
              <a:rPr lang="en-US" sz="1600" dirty="0">
                <a:solidFill>
                  <a:schemeClr val="tx1"/>
                </a:solidFill>
              </a:rPr>
              <a:t>Number of guests</a:t>
            </a:r>
            <a:endParaRPr lang="en-US" sz="1600" dirty="0"/>
          </a:p>
          <a:p>
            <a:pPr marL="203200" indent="-203200">
              <a:spcAft>
                <a:spcPts val="300"/>
              </a:spcAft>
              <a:buSzPct val="100000"/>
              <a:buChar char="•"/>
            </a:pPr>
            <a:r>
              <a:rPr lang="en-US" sz="1600" dirty="0">
                <a:solidFill>
                  <a:schemeClr val="tx1"/>
                </a:solidFill>
              </a:rPr>
              <a:t>Occasion and requests</a:t>
            </a:r>
            <a:endParaRPr lang="en-US" sz="1600" dirty="0"/>
          </a:p>
        </p:txBody>
      </p:sp>
      <p:sp>
        <p:nvSpPr>
          <p:cNvPr id="29" name="Module card 6"/>
          <p:cNvSpPr/>
          <p:nvPr/>
        </p:nvSpPr>
        <p:spPr>
          <a:xfrm>
            <a:off x="8138160" y="4114800"/>
            <a:ext cx="3520440" cy="2194560"/>
          </a:xfrm>
          <a:prstGeom prst="rect">
            <a:avLst/>
          </a:prstGeom>
          <a:solidFill>
            <a:schemeClr val="bg2"/>
          </a:solidFill>
          <a:ln w="12700">
            <a:solidFill>
              <a:schemeClr val="bg2"/>
            </a:solidFill>
            <a:prstDash val="solid"/>
          </a:ln>
        </p:spPr>
      </p:sp>
      <p:sp>
        <p:nvSpPr>
          <p:cNvPr id="30" name="Module 6 circle"/>
          <p:cNvSpPr/>
          <p:nvPr/>
        </p:nvSpPr>
        <p:spPr>
          <a:xfrm>
            <a:off x="8412480" y="4343400"/>
            <a:ext cx="548640" cy="548640"/>
          </a:xfrm>
          <a:prstGeom prst="ellipse">
            <a:avLst/>
          </a:prstGeom>
          <a:solidFill>
            <a:schemeClr val="tx2"/>
          </a:solidFill>
          <a:ln w="12700">
            <a:solidFill>
              <a:schemeClr val="tx2"/>
            </a:solidFill>
            <a:prstDash val="solid"/>
          </a:ln>
        </p:spPr>
      </p:sp>
      <p:pic>
        <p:nvPicPr>
          <p:cNvPr id="31" name="Module 6 icon" descr="Module 6"/>
          <p:cNvPicPr>
            <a:picLocks noChangeAspect="1"/>
          </p:cNvPicPr>
          <p:nvPr/>
        </p:nvPicPr>
        <p:blipFill>
          <a:blip r:embed="rId8"/>
          <a:stretch>
            <a:fillRect/>
          </a:stretch>
        </p:blipFill>
        <p:spPr>
          <a:xfrm>
            <a:off x="8560613" y="4491533"/>
            <a:ext cx="252374" cy="252374"/>
          </a:xfrm>
          <a:prstGeom prst="rect">
            <a:avLst/>
          </a:prstGeom>
        </p:spPr>
      </p:pic>
      <p:sp>
        <p:nvSpPr>
          <p:cNvPr id="32" name="Module title 6"/>
          <p:cNvSpPr txBox="1"/>
          <p:nvPr/>
        </p:nvSpPr>
        <p:spPr>
          <a:xfrm>
            <a:off x="9144000" y="4343400"/>
            <a:ext cx="2377440" cy="548640"/>
          </a:xfrm>
          <a:prstGeom prst="rect">
            <a:avLst/>
          </a:prstGeom>
          <a:noFill/>
          <a:ln/>
        </p:spPr>
        <p:txBody>
          <a:bodyPr wrap="square" lIns="0" tIns="0" rIns="0" bIns="0" rtlCol="0" anchor="ctr"/>
          <a:lstStyle/>
          <a:p>
            <a:pPr marL="0" indent="0">
              <a:buNone/>
            </a:pPr>
            <a:r>
              <a:rPr lang="en-US" sz="2000" b="1" dirty="0">
                <a:solidFill>
                  <a:schemeClr val="tx2"/>
                </a:solidFill>
                <a:latin typeface="Cambria" pitchFamily="34" charset="0"/>
                <a:ea typeface="Cambria" pitchFamily="34" charset="-122"/>
                <a:cs typeface="Cambria" pitchFamily="34" charset="-120"/>
              </a:rPr>
              <a:t>Footer</a:t>
            </a:r>
            <a:endParaRPr lang="en-US" sz="2000" dirty="0"/>
          </a:p>
        </p:txBody>
      </p:sp>
      <p:sp>
        <p:nvSpPr>
          <p:cNvPr id="33" name="Module points 6"/>
          <p:cNvSpPr txBox="1"/>
          <p:nvPr/>
        </p:nvSpPr>
        <p:spPr>
          <a:xfrm>
            <a:off x="8412480" y="5029200"/>
            <a:ext cx="3108960" cy="1188720"/>
          </a:xfrm>
          <a:prstGeom prst="rect">
            <a:avLst/>
          </a:prstGeom>
          <a:noFill/>
          <a:ln/>
        </p:spPr>
        <p:txBody>
          <a:bodyPr wrap="square" lIns="0" tIns="0" rIns="0" bIns="0" rtlCol="0" anchor="t"/>
          <a:lstStyle/>
          <a:p>
            <a:pPr marL="203200" indent="-203200">
              <a:spcAft>
                <a:spcPts val="300"/>
              </a:spcAft>
              <a:buSzPct val="100000"/>
              <a:buChar char="•"/>
            </a:pPr>
            <a:r>
              <a:rPr lang="en-US" sz="1600" dirty="0">
                <a:solidFill>
                  <a:schemeClr val="tx1"/>
                </a:solidFill>
              </a:rPr>
              <a:t>Navigation links</a:t>
            </a:r>
            <a:endParaRPr lang="en-US" sz="1600" dirty="0"/>
          </a:p>
          <a:p>
            <a:pPr marL="203200" indent="-203200">
              <a:spcAft>
                <a:spcPts val="300"/>
              </a:spcAft>
              <a:buSzPct val="100000"/>
              <a:buChar char="•"/>
            </a:pPr>
            <a:r>
              <a:rPr lang="en-US" sz="1600" dirty="0">
                <a:solidFill>
                  <a:schemeClr val="tx1"/>
                </a:solidFill>
              </a:rPr>
              <a:t>Contact placeholders</a:t>
            </a:r>
            <a:endParaRPr lang="en-US" sz="1600" dirty="0"/>
          </a:p>
          <a:p>
            <a:pPr marL="203200" indent="-203200">
              <a:spcAft>
                <a:spcPts val="300"/>
              </a:spcAft>
              <a:buSzPct val="100000"/>
              <a:buChar char="•"/>
            </a:pPr>
            <a:r>
              <a:rPr lang="en-US" sz="1600" dirty="0">
                <a:solidFill>
                  <a:schemeClr val="tx1"/>
                </a:solidFill>
              </a:rPr>
              <a:t>Social media icons</a:t>
            </a:r>
            <a:endParaRPr lang="en-US" sz="1600" dirty="0"/>
          </a:p>
        </p:txBody>
      </p:sp>
      <p:sp>
        <p:nvSpPr>
          <p:cNvPr id="34"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5</a:t>
            </a:fld>
            <a:endParaRPr lang="en-US"/>
          </a:p>
        </p:txBody>
      </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65760"/>
            <a:ext cx="7315200" cy="274320"/>
          </a:xfrm>
          <a:prstGeom prst="rect">
            <a:avLst/>
          </a:prstGeom>
          <a:noFill/>
          <a:ln/>
        </p:spPr>
        <p:txBody>
          <a:bodyPr wrap="square" lIns="0" tIns="0" rIns="0" bIns="0" rtlCol="0" anchor="ctr"/>
          <a:lstStyle/>
          <a:p>
            <a:pPr marL="0" indent="0">
              <a:buNone/>
            </a:pPr>
            <a:r>
              <a:rPr lang="en-US" sz="1400" b="1" kern="0" spc="400" dirty="0">
                <a:solidFill>
                  <a:schemeClr val="accent4"/>
                </a:solidFill>
              </a:rPr>
              <a:t>UI / UX</a:t>
            </a:r>
            <a:endParaRPr lang="en-US" sz="1400" dirty="0"/>
          </a:p>
        </p:txBody>
      </p:sp>
      <p:sp>
        <p:nvSpPr>
          <p:cNvPr id="3" name="Text 0"/>
          <p:cNvSpPr>
            <a:spLocks noGrp="1"/>
          </p:cNvSpPr>
          <p:nvPr>
            <p:ph type="title" idx="101" hasCustomPrompt="1"/>
          </p:nvPr>
        </p:nvSpPr>
        <p:spPr>
          <a:xfrm>
            <a:off x="548640" y="68580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User Interface and Design</a:t>
            </a:r>
            <a:endParaRPr lang="en-US" sz="3400" dirty="0"/>
          </a:p>
        </p:txBody>
      </p:sp>
      <p:sp>
        <p:nvSpPr>
          <p:cNvPr id="4" name="Browser frame"/>
          <p:cNvSpPr/>
          <p:nvPr/>
        </p:nvSpPr>
        <p:spPr>
          <a:xfrm>
            <a:off x="548640" y="1691640"/>
            <a:ext cx="6035040" cy="4251960"/>
          </a:xfrm>
          <a:prstGeom prst="rect">
            <a:avLst/>
          </a:prstGeom>
          <a:solidFill>
            <a:schemeClr val="bg1"/>
          </a:solidFill>
          <a:ln w="15875">
            <a:solidFill>
              <a:schemeClr val="accent1"/>
            </a:solidFill>
            <a:prstDash val="solid"/>
          </a:ln>
        </p:spPr>
      </p:sp>
      <p:sp>
        <p:nvSpPr>
          <p:cNvPr id="5" name="Browser bar"/>
          <p:cNvSpPr/>
          <p:nvPr/>
        </p:nvSpPr>
        <p:spPr>
          <a:xfrm>
            <a:off x="548640" y="1691640"/>
            <a:ext cx="6035040" cy="365760"/>
          </a:xfrm>
          <a:prstGeom prst="rect">
            <a:avLst/>
          </a:prstGeom>
          <a:solidFill>
            <a:schemeClr val="bg2"/>
          </a:solidFill>
          <a:ln w="12700">
            <a:solidFill>
              <a:schemeClr val="bg2"/>
            </a:solidFill>
            <a:prstDash val="solid"/>
          </a:ln>
        </p:spPr>
      </p:sp>
      <p:sp>
        <p:nvSpPr>
          <p:cNvPr id="6" name="Browser dot 1"/>
          <p:cNvSpPr/>
          <p:nvPr/>
        </p:nvSpPr>
        <p:spPr>
          <a:xfrm>
            <a:off x="731520" y="1810512"/>
            <a:ext cx="128016" cy="128016"/>
          </a:xfrm>
          <a:prstGeom prst="ellipse">
            <a:avLst/>
          </a:prstGeom>
          <a:solidFill>
            <a:schemeClr val="accent1"/>
          </a:solidFill>
          <a:ln w="12700">
            <a:solidFill>
              <a:schemeClr val="accent1"/>
            </a:solidFill>
            <a:prstDash val="solid"/>
          </a:ln>
        </p:spPr>
      </p:sp>
      <p:sp>
        <p:nvSpPr>
          <p:cNvPr id="7" name="Browser dot 2"/>
          <p:cNvSpPr/>
          <p:nvPr/>
        </p:nvSpPr>
        <p:spPr>
          <a:xfrm>
            <a:off x="932688" y="1810512"/>
            <a:ext cx="128016" cy="128016"/>
          </a:xfrm>
          <a:prstGeom prst="ellipse">
            <a:avLst/>
          </a:prstGeom>
          <a:solidFill>
            <a:schemeClr val="accent1"/>
          </a:solidFill>
          <a:ln w="12700">
            <a:solidFill>
              <a:schemeClr val="accent1"/>
            </a:solidFill>
            <a:prstDash val="solid"/>
          </a:ln>
        </p:spPr>
      </p:sp>
      <p:sp>
        <p:nvSpPr>
          <p:cNvPr id="8" name="Browser dot 3"/>
          <p:cNvSpPr/>
          <p:nvPr/>
        </p:nvSpPr>
        <p:spPr>
          <a:xfrm>
            <a:off x="1133856" y="1810512"/>
            <a:ext cx="128016" cy="128016"/>
          </a:xfrm>
          <a:prstGeom prst="ellipse">
            <a:avLst/>
          </a:prstGeom>
          <a:solidFill>
            <a:schemeClr val="accent1"/>
          </a:solidFill>
          <a:ln w="12700">
            <a:solidFill>
              <a:schemeClr val="accent1"/>
            </a:solidFill>
            <a:prstDash val="solid"/>
          </a:ln>
        </p:spPr>
      </p:sp>
      <p:sp>
        <p:nvSpPr>
          <p:cNvPr id="9" name="Mockup nav bar"/>
          <p:cNvSpPr/>
          <p:nvPr/>
        </p:nvSpPr>
        <p:spPr>
          <a:xfrm>
            <a:off x="548640" y="2057400"/>
            <a:ext cx="6035040" cy="457200"/>
          </a:xfrm>
          <a:prstGeom prst="rect">
            <a:avLst/>
          </a:prstGeom>
          <a:solidFill>
            <a:schemeClr val="tx2"/>
          </a:solidFill>
          <a:ln w="12700">
            <a:solidFill>
              <a:schemeClr val="tx2"/>
            </a:solidFill>
            <a:prstDash val="solid"/>
          </a:ln>
        </p:spPr>
      </p:sp>
      <p:sp>
        <p:nvSpPr>
          <p:cNvPr id="10" name="Mockup logo"/>
          <p:cNvSpPr txBox="1"/>
          <p:nvPr/>
        </p:nvSpPr>
        <p:spPr>
          <a:xfrm>
            <a:off x="777240" y="2057400"/>
            <a:ext cx="1463040" cy="457200"/>
          </a:xfrm>
          <a:prstGeom prst="rect">
            <a:avLst/>
          </a:prstGeom>
          <a:noFill/>
          <a:ln/>
        </p:spPr>
        <p:txBody>
          <a:bodyPr wrap="square" lIns="0" tIns="0" rIns="0" bIns="0" rtlCol="0" anchor="ctr"/>
          <a:lstStyle/>
          <a:p>
            <a:pPr marL="0" indent="0">
              <a:buNone/>
            </a:pPr>
            <a:r>
              <a:rPr lang="en-US" sz="1400" b="1" kern="0" spc="300" dirty="0">
                <a:solidFill>
                  <a:schemeClr val="accent1"/>
                </a:solidFill>
                <a:latin typeface="Cambria" pitchFamily="34" charset="0"/>
                <a:ea typeface="Cambria" pitchFamily="34" charset="-122"/>
                <a:cs typeface="Cambria" pitchFamily="34" charset="-120"/>
              </a:rPr>
              <a:t>MAISON</a:t>
            </a:r>
            <a:endParaRPr lang="en-US" sz="1400" dirty="0"/>
          </a:p>
        </p:txBody>
      </p:sp>
      <p:sp>
        <p:nvSpPr>
          <p:cNvPr id="11" name="Mockup links"/>
          <p:cNvSpPr txBox="1"/>
          <p:nvPr/>
        </p:nvSpPr>
        <p:spPr>
          <a:xfrm>
            <a:off x="2743200" y="2057400"/>
            <a:ext cx="3657600" cy="457200"/>
          </a:xfrm>
          <a:prstGeom prst="rect">
            <a:avLst/>
          </a:prstGeom>
          <a:noFill/>
          <a:ln/>
        </p:spPr>
        <p:txBody>
          <a:bodyPr wrap="square" lIns="0" tIns="0" rIns="0" bIns="0" rtlCol="0" anchor="ctr"/>
          <a:lstStyle/>
          <a:p>
            <a:pPr marL="0" indent="0" algn="r">
              <a:buNone/>
            </a:pPr>
            <a:r>
              <a:rPr lang="en-US" sz="1100" dirty="0">
                <a:solidFill>
                  <a:schemeClr val="bg2"/>
                </a:solidFill>
              </a:rPr>
              <a:t>Home    Story    Menu    Experience    Reserve</a:t>
            </a:r>
            <a:endParaRPr lang="en-US" sz="1100" dirty="0"/>
          </a:p>
        </p:txBody>
      </p:sp>
      <p:sp>
        <p:nvSpPr>
          <p:cNvPr id="12" name="Mockup hero"/>
          <p:cNvSpPr/>
          <p:nvPr/>
        </p:nvSpPr>
        <p:spPr>
          <a:xfrm>
            <a:off x="548640" y="2514600"/>
            <a:ext cx="6035040" cy="1417320"/>
          </a:xfrm>
          <a:prstGeom prst="rect">
            <a:avLst/>
          </a:prstGeom>
          <a:solidFill>
            <a:schemeClr val="bg2"/>
          </a:solidFill>
          <a:ln w="12700">
            <a:solidFill>
              <a:schemeClr val="bg2"/>
            </a:solidFill>
            <a:prstDash val="solid"/>
          </a:ln>
        </p:spPr>
      </p:sp>
      <p:sp>
        <p:nvSpPr>
          <p:cNvPr id="13" name="Mockup hero title"/>
          <p:cNvSpPr txBox="1"/>
          <p:nvPr/>
        </p:nvSpPr>
        <p:spPr>
          <a:xfrm>
            <a:off x="822960" y="2651760"/>
            <a:ext cx="3840480" cy="731520"/>
          </a:xfrm>
          <a:prstGeom prst="rect">
            <a:avLst/>
          </a:prstGeom>
          <a:noFill/>
          <a:ln/>
        </p:spPr>
        <p:txBody>
          <a:bodyPr wrap="square" lIns="0" tIns="0" rIns="0" bIns="0" rtlCol="0" anchor="t"/>
          <a:lstStyle/>
          <a:p>
            <a:pPr marL="0" indent="0">
              <a:buNone/>
            </a:pPr>
            <a:r>
              <a:rPr lang="en-US" sz="2000" b="1" dirty="0">
                <a:solidFill>
                  <a:schemeClr val="tx2"/>
                </a:solidFill>
                <a:latin typeface="Cambria" pitchFamily="34" charset="0"/>
                <a:ea typeface="Cambria" pitchFamily="34" charset="-122"/>
                <a:cs typeface="Cambria" pitchFamily="34" charset="-120"/>
              </a:rPr>
              <a:t>A Contemporary Dining Experience</a:t>
            </a:r>
            <a:endParaRPr lang="en-US" sz="2000" dirty="0"/>
          </a:p>
        </p:txBody>
      </p:sp>
      <p:sp>
        <p:nvSpPr>
          <p:cNvPr id="14" name="Mockup button"/>
          <p:cNvSpPr/>
          <p:nvPr/>
        </p:nvSpPr>
        <p:spPr>
          <a:xfrm>
            <a:off x="822960" y="3383280"/>
            <a:ext cx="1463040" cy="365760"/>
          </a:xfrm>
          <a:prstGeom prst="rect">
            <a:avLst/>
          </a:prstGeom>
          <a:solidFill>
            <a:schemeClr val="accent1"/>
          </a:solidFill>
          <a:ln w="12700">
            <a:solidFill>
              <a:schemeClr val="accent1"/>
            </a:solidFill>
            <a:prstDash val="solid"/>
          </a:ln>
        </p:spPr>
      </p:sp>
      <p:sp>
        <p:nvSpPr>
          <p:cNvPr id="15" name="Mockup button text"/>
          <p:cNvSpPr txBox="1"/>
          <p:nvPr/>
        </p:nvSpPr>
        <p:spPr>
          <a:xfrm>
            <a:off x="822960" y="3383280"/>
            <a:ext cx="1463040" cy="365760"/>
          </a:xfrm>
          <a:prstGeom prst="rect">
            <a:avLst/>
          </a:prstGeom>
          <a:noFill/>
          <a:ln/>
        </p:spPr>
        <p:txBody>
          <a:bodyPr wrap="square" lIns="0" tIns="0" rIns="0" bIns="0" rtlCol="0" anchor="ctr"/>
          <a:lstStyle/>
          <a:p>
            <a:pPr marL="0" indent="0" algn="ctr">
              <a:buNone/>
            </a:pPr>
            <a:r>
              <a:rPr lang="en-US" sz="1100" b="1" dirty="0">
                <a:solidFill>
                  <a:schemeClr val="tx2"/>
                </a:solidFill>
              </a:rPr>
              <a:t>Reserve a Table</a:t>
            </a:r>
            <a:endParaRPr lang="en-US" sz="1100" dirty="0"/>
          </a:p>
        </p:txBody>
      </p:sp>
      <p:pic>
        <p:nvPicPr>
          <p:cNvPr id="16" name="Mockup hero icon" descr="Cutlery icon"/>
          <p:cNvPicPr>
            <a:picLocks noChangeAspect="1"/>
          </p:cNvPicPr>
          <p:nvPr/>
        </p:nvPicPr>
        <p:blipFill>
          <a:blip r:embed="rId3"/>
          <a:stretch>
            <a:fillRect/>
          </a:stretch>
        </p:blipFill>
        <p:spPr>
          <a:xfrm>
            <a:off x="5257800" y="2697480"/>
            <a:ext cx="822960" cy="822960"/>
          </a:xfrm>
          <a:prstGeom prst="rect">
            <a:avLst/>
          </a:prstGeom>
        </p:spPr>
      </p:pic>
      <p:sp>
        <p:nvSpPr>
          <p:cNvPr id="17" name="Mockup menu label"/>
          <p:cNvSpPr txBox="1"/>
          <p:nvPr/>
        </p:nvSpPr>
        <p:spPr>
          <a:xfrm>
            <a:off x="822960" y="4023360"/>
            <a:ext cx="2743200" cy="274320"/>
          </a:xfrm>
          <a:prstGeom prst="rect">
            <a:avLst/>
          </a:prstGeom>
          <a:noFill/>
          <a:ln/>
        </p:spPr>
        <p:txBody>
          <a:bodyPr wrap="square" lIns="0" tIns="0" rIns="0" bIns="0" rtlCol="0" anchor="ctr"/>
          <a:lstStyle/>
          <a:p>
            <a:pPr marL="0" indent="0">
              <a:buNone/>
            </a:pPr>
            <a:r>
              <a:rPr lang="en-US" sz="1200" b="1" dirty="0">
                <a:solidFill>
                  <a:schemeClr val="accent4"/>
                </a:solidFill>
              </a:rPr>
              <a:t>Menu Cards</a:t>
            </a:r>
            <a:endParaRPr lang="en-US" sz="1200" dirty="0"/>
          </a:p>
        </p:txBody>
      </p:sp>
      <p:sp>
        <p:nvSpPr>
          <p:cNvPr id="18" name="Mockup menu card 1"/>
          <p:cNvSpPr/>
          <p:nvPr/>
        </p:nvSpPr>
        <p:spPr>
          <a:xfrm>
            <a:off x="822960" y="4343400"/>
            <a:ext cx="1691640" cy="1417320"/>
          </a:xfrm>
          <a:prstGeom prst="rect">
            <a:avLst/>
          </a:prstGeom>
          <a:solidFill>
            <a:schemeClr val="bg2"/>
          </a:solidFill>
          <a:ln w="9525">
            <a:solidFill>
              <a:schemeClr val="accent1"/>
            </a:solidFill>
            <a:prstDash val="solid"/>
          </a:ln>
        </p:spPr>
      </p:sp>
      <p:pic>
        <p:nvPicPr>
          <p:cNvPr id="19" name="Mockup food placeholder 1" descr="Food image placeholder"/>
          <p:cNvPicPr>
            <a:picLocks noChangeAspect="1"/>
          </p:cNvPicPr>
          <p:nvPr/>
        </p:nvPicPr>
        <p:blipFill>
          <a:blip r:embed="rId4"/>
          <a:stretch>
            <a:fillRect/>
          </a:stretch>
        </p:blipFill>
        <p:spPr>
          <a:xfrm>
            <a:off x="1508760" y="4434840"/>
            <a:ext cx="320040" cy="320040"/>
          </a:xfrm>
          <a:prstGeom prst="rect">
            <a:avLst/>
          </a:prstGeom>
        </p:spPr>
      </p:pic>
      <p:sp>
        <p:nvSpPr>
          <p:cNvPr id="20" name="Mockup menu text 1"/>
          <p:cNvSpPr txBox="1"/>
          <p:nvPr/>
        </p:nvSpPr>
        <p:spPr>
          <a:xfrm>
            <a:off x="914400" y="4892040"/>
            <a:ext cx="1508760" cy="777240"/>
          </a:xfrm>
          <a:prstGeom prst="rect">
            <a:avLst/>
          </a:prstGeom>
          <a:noFill/>
          <a:ln/>
        </p:spPr>
        <p:txBody>
          <a:bodyPr wrap="square" lIns="0" tIns="0" rIns="0" bIns="0" rtlCol="0" anchor="ctr"/>
          <a:lstStyle/>
          <a:p>
            <a:pPr marL="0" indent="0" algn="ctr">
              <a:buNone/>
            </a:pPr>
            <a:r>
              <a:rPr lang="en-US" sz="1100" dirty="0">
                <a:solidFill>
                  <a:schemeClr val="tx1"/>
                </a:solidFill>
              </a:rPr>
              <a:t>Sample dish</a:t>
            </a:r>
            <a:endParaRPr lang="en-US" sz="1100" dirty="0"/>
          </a:p>
          <a:p>
            <a:pPr marL="0" indent="0" algn="ctr">
              <a:buNone/>
            </a:pPr>
            <a:r>
              <a:rPr lang="en-US" sz="1100" dirty="0">
                <a:solidFill>
                  <a:schemeClr val="tx1"/>
                </a:solidFill>
              </a:rPr>
              <a:t>Sample price</a:t>
            </a:r>
            <a:endParaRPr lang="en-US" sz="1100" dirty="0"/>
          </a:p>
        </p:txBody>
      </p:sp>
      <p:sp>
        <p:nvSpPr>
          <p:cNvPr id="21" name="Mockup menu card 2"/>
          <p:cNvSpPr/>
          <p:nvPr/>
        </p:nvSpPr>
        <p:spPr>
          <a:xfrm>
            <a:off x="2697480" y="4343400"/>
            <a:ext cx="1691640" cy="1417320"/>
          </a:xfrm>
          <a:prstGeom prst="rect">
            <a:avLst/>
          </a:prstGeom>
          <a:solidFill>
            <a:schemeClr val="bg2"/>
          </a:solidFill>
          <a:ln w="9525">
            <a:solidFill>
              <a:schemeClr val="accent1"/>
            </a:solidFill>
            <a:prstDash val="solid"/>
          </a:ln>
        </p:spPr>
      </p:sp>
      <p:pic>
        <p:nvPicPr>
          <p:cNvPr id="22" name="Mockup food placeholder 2" descr="Food image placeholder"/>
          <p:cNvPicPr>
            <a:picLocks noChangeAspect="1"/>
          </p:cNvPicPr>
          <p:nvPr/>
        </p:nvPicPr>
        <p:blipFill>
          <a:blip r:embed="rId4"/>
          <a:stretch>
            <a:fillRect/>
          </a:stretch>
        </p:blipFill>
        <p:spPr>
          <a:xfrm>
            <a:off x="3383280" y="4434840"/>
            <a:ext cx="320040" cy="320040"/>
          </a:xfrm>
          <a:prstGeom prst="rect">
            <a:avLst/>
          </a:prstGeom>
        </p:spPr>
      </p:pic>
      <p:sp>
        <p:nvSpPr>
          <p:cNvPr id="23" name="Mockup menu text 2"/>
          <p:cNvSpPr txBox="1"/>
          <p:nvPr/>
        </p:nvSpPr>
        <p:spPr>
          <a:xfrm>
            <a:off x="2788920" y="4892040"/>
            <a:ext cx="1508760" cy="777240"/>
          </a:xfrm>
          <a:prstGeom prst="rect">
            <a:avLst/>
          </a:prstGeom>
          <a:noFill/>
          <a:ln/>
        </p:spPr>
        <p:txBody>
          <a:bodyPr wrap="square" lIns="0" tIns="0" rIns="0" bIns="0" rtlCol="0" anchor="ctr"/>
          <a:lstStyle/>
          <a:p>
            <a:pPr marL="0" indent="0" algn="ctr">
              <a:buNone/>
            </a:pPr>
            <a:r>
              <a:rPr lang="en-US" sz="1100" dirty="0">
                <a:solidFill>
                  <a:schemeClr val="tx1"/>
                </a:solidFill>
              </a:rPr>
              <a:t>Sample dish</a:t>
            </a:r>
            <a:endParaRPr lang="en-US" sz="1100" dirty="0"/>
          </a:p>
          <a:p>
            <a:pPr marL="0" indent="0" algn="ctr">
              <a:buNone/>
            </a:pPr>
            <a:r>
              <a:rPr lang="en-US" sz="1100" dirty="0">
                <a:solidFill>
                  <a:schemeClr val="tx1"/>
                </a:solidFill>
              </a:rPr>
              <a:t>Sample price</a:t>
            </a:r>
            <a:endParaRPr lang="en-US" sz="1100" dirty="0"/>
          </a:p>
        </p:txBody>
      </p:sp>
      <p:sp>
        <p:nvSpPr>
          <p:cNvPr id="24" name="Mockup menu card 3"/>
          <p:cNvSpPr/>
          <p:nvPr/>
        </p:nvSpPr>
        <p:spPr>
          <a:xfrm>
            <a:off x="4572000" y="4343400"/>
            <a:ext cx="1691640" cy="1417320"/>
          </a:xfrm>
          <a:prstGeom prst="rect">
            <a:avLst/>
          </a:prstGeom>
          <a:solidFill>
            <a:schemeClr val="bg2"/>
          </a:solidFill>
          <a:ln w="9525">
            <a:solidFill>
              <a:schemeClr val="accent1"/>
            </a:solidFill>
            <a:prstDash val="solid"/>
          </a:ln>
        </p:spPr>
      </p:sp>
      <p:pic>
        <p:nvPicPr>
          <p:cNvPr id="25" name="Mockup food placeholder 3" descr="Food image placeholder"/>
          <p:cNvPicPr>
            <a:picLocks noChangeAspect="1"/>
          </p:cNvPicPr>
          <p:nvPr/>
        </p:nvPicPr>
        <p:blipFill>
          <a:blip r:embed="rId4"/>
          <a:stretch>
            <a:fillRect/>
          </a:stretch>
        </p:blipFill>
        <p:spPr>
          <a:xfrm>
            <a:off x="5257800" y="4434840"/>
            <a:ext cx="320040" cy="320040"/>
          </a:xfrm>
          <a:prstGeom prst="rect">
            <a:avLst/>
          </a:prstGeom>
        </p:spPr>
      </p:pic>
      <p:sp>
        <p:nvSpPr>
          <p:cNvPr id="26" name="Mockup menu text 3"/>
          <p:cNvSpPr txBox="1"/>
          <p:nvPr/>
        </p:nvSpPr>
        <p:spPr>
          <a:xfrm>
            <a:off x="4663440" y="4892040"/>
            <a:ext cx="1508760" cy="777240"/>
          </a:xfrm>
          <a:prstGeom prst="rect">
            <a:avLst/>
          </a:prstGeom>
          <a:noFill/>
          <a:ln/>
        </p:spPr>
        <p:txBody>
          <a:bodyPr wrap="square" lIns="0" tIns="0" rIns="0" bIns="0" rtlCol="0" anchor="ctr"/>
          <a:lstStyle/>
          <a:p>
            <a:pPr marL="0" indent="0" algn="ctr">
              <a:buNone/>
            </a:pPr>
            <a:r>
              <a:rPr lang="en-US" sz="1100" dirty="0">
                <a:solidFill>
                  <a:schemeClr val="tx1"/>
                </a:solidFill>
              </a:rPr>
              <a:t>Sample dish</a:t>
            </a:r>
            <a:endParaRPr lang="en-US" sz="1100" dirty="0"/>
          </a:p>
          <a:p>
            <a:pPr marL="0" indent="0" algn="ctr">
              <a:buNone/>
            </a:pPr>
            <a:r>
              <a:rPr lang="en-US" sz="1100" dirty="0">
                <a:solidFill>
                  <a:schemeClr val="tx1"/>
                </a:solidFill>
              </a:rPr>
              <a:t>Sample price</a:t>
            </a:r>
            <a:endParaRPr lang="en-US" sz="1100" dirty="0"/>
          </a:p>
        </p:txBody>
      </p:sp>
      <p:sp>
        <p:nvSpPr>
          <p:cNvPr id="27" name="Mockup caption"/>
          <p:cNvSpPr txBox="1"/>
          <p:nvPr/>
        </p:nvSpPr>
        <p:spPr>
          <a:xfrm>
            <a:off x="548640" y="6016752"/>
            <a:ext cx="6035040" cy="274320"/>
          </a:xfrm>
          <a:prstGeom prst="rect">
            <a:avLst/>
          </a:prstGeom>
          <a:noFill/>
          <a:ln/>
        </p:spPr>
        <p:txBody>
          <a:bodyPr wrap="square" lIns="0" tIns="0" rIns="0" bIns="0" rtlCol="0" anchor="ctr"/>
          <a:lstStyle/>
          <a:p>
            <a:pPr marL="0" indent="0">
              <a:buNone/>
            </a:pPr>
            <a:r>
              <a:rPr lang="en-US" sz="1200" i="1" dirty="0">
                <a:solidFill>
                  <a:schemeClr val="accent5"/>
                </a:solidFill>
              </a:rPr>
              <a:t>Illustrative mockup of the described design</a:t>
            </a:r>
            <a:endParaRPr lang="en-US" sz="1200" dirty="0"/>
          </a:p>
        </p:txBody>
      </p:sp>
      <p:sp>
        <p:nvSpPr>
          <p:cNvPr id="28" name="Design heading"/>
          <p:cNvSpPr txBox="1"/>
          <p:nvPr/>
        </p:nvSpPr>
        <p:spPr>
          <a:xfrm>
            <a:off x="7040880" y="1691640"/>
            <a:ext cx="4572000" cy="457200"/>
          </a:xfrm>
          <a:prstGeom prst="rect">
            <a:avLst/>
          </a:prstGeom>
          <a:noFill/>
          <a:ln/>
        </p:spPr>
        <p:txBody>
          <a:bodyPr wrap="square" lIns="0" tIns="0" rIns="0" bIns="0" rtlCol="0" anchor="ctr"/>
          <a:lstStyle/>
          <a:p>
            <a:pPr marL="0" indent="0">
              <a:buNone/>
            </a:pPr>
            <a:r>
              <a:rPr lang="en-US" sz="2400" b="1" dirty="0">
                <a:solidFill>
                  <a:schemeClr val="tx2"/>
                </a:solidFill>
                <a:latin typeface="Cambria" pitchFamily="34" charset="0"/>
                <a:ea typeface="Cambria" pitchFamily="34" charset="-122"/>
                <a:cs typeface="Cambria" pitchFamily="34" charset="-120"/>
              </a:rPr>
              <a:t>Design Features</a:t>
            </a:r>
            <a:endParaRPr lang="en-US" sz="2400" dirty="0"/>
          </a:p>
        </p:txBody>
      </p:sp>
      <p:sp>
        <p:nvSpPr>
          <p:cNvPr id="29" name="Design features list"/>
          <p:cNvSpPr txBox="1"/>
          <p:nvPr/>
        </p:nvSpPr>
        <p:spPr>
          <a:xfrm>
            <a:off x="7040880" y="2331720"/>
            <a:ext cx="4572000" cy="384048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chemeClr val="tx1"/>
                </a:solidFill>
              </a:rPr>
              <a:t>Black, cream and gold palette</a:t>
            </a:r>
            <a:endParaRPr lang="en-US" sz="1800" dirty="0"/>
          </a:p>
          <a:p>
            <a:pPr marL="228600" indent="-228600">
              <a:spcAft>
                <a:spcPts val="1000"/>
              </a:spcAft>
              <a:buSzPct val="100000"/>
              <a:buChar char="•"/>
            </a:pPr>
            <a:r>
              <a:rPr lang="en-US" sz="1800" dirty="0">
                <a:solidFill>
                  <a:schemeClr val="tx1"/>
                </a:solidFill>
              </a:rPr>
              <a:t>Restaurant photography</a:t>
            </a:r>
            <a:endParaRPr lang="en-US" sz="1800" dirty="0"/>
          </a:p>
          <a:p>
            <a:pPr marL="228600" indent="-228600">
              <a:spcAft>
                <a:spcPts val="1000"/>
              </a:spcAft>
              <a:buSzPct val="100000"/>
              <a:buChar char="•"/>
            </a:pPr>
            <a:r>
              <a:rPr lang="en-US" sz="1800" dirty="0">
                <a:solidFill>
                  <a:schemeClr val="tx1"/>
                </a:solidFill>
              </a:rPr>
              <a:t>Serif headings, readable body text</a:t>
            </a:r>
            <a:endParaRPr lang="en-US" sz="1800" dirty="0"/>
          </a:p>
          <a:p>
            <a:pPr marL="228600" indent="-228600">
              <a:spcAft>
                <a:spcPts val="1000"/>
              </a:spcAft>
              <a:buSzPct val="100000"/>
              <a:buChar char="•"/>
            </a:pPr>
            <a:r>
              <a:rPr lang="en-US" sz="1800" dirty="0">
                <a:solidFill>
                  <a:schemeClr val="tx1"/>
                </a:solidFill>
              </a:rPr>
              <a:t>Consistent spacing and alignment</a:t>
            </a:r>
            <a:endParaRPr lang="en-US" sz="1800" dirty="0"/>
          </a:p>
          <a:p>
            <a:pPr marL="228600" indent="-228600">
              <a:spcAft>
                <a:spcPts val="1000"/>
              </a:spcAft>
              <a:buSzPct val="100000"/>
              <a:buChar char="•"/>
            </a:pPr>
            <a:r>
              <a:rPr lang="en-US" sz="1800" dirty="0">
                <a:solidFill>
                  <a:schemeClr val="tx1"/>
                </a:solidFill>
              </a:rPr>
              <a:t>Responsive grid layout</a:t>
            </a:r>
            <a:endParaRPr lang="en-US" sz="1800" dirty="0"/>
          </a:p>
          <a:p>
            <a:pPr marL="228600" indent="-228600">
              <a:spcAft>
                <a:spcPts val="1000"/>
              </a:spcAft>
              <a:buSzPct val="100000"/>
              <a:buChar char="•"/>
            </a:pPr>
            <a:r>
              <a:rPr lang="en-US" sz="1800" dirty="0">
                <a:solidFill>
                  <a:schemeClr val="tx1"/>
                </a:solidFill>
              </a:rPr>
              <a:t>Hover effects on cards and buttons</a:t>
            </a:r>
            <a:endParaRPr lang="en-US" sz="1800" dirty="0"/>
          </a:p>
          <a:p>
            <a:pPr marL="228600" indent="-228600">
              <a:spcAft>
                <a:spcPts val="1000"/>
              </a:spcAft>
              <a:buSzPct val="100000"/>
              <a:buChar char="•"/>
            </a:pPr>
            <a:r>
              <a:rPr lang="en-US" sz="1800" dirty="0">
                <a:solidFill>
                  <a:schemeClr val="tx1"/>
                </a:solidFill>
              </a:rPr>
              <a:t>Sticky navigation bar</a:t>
            </a:r>
            <a:endParaRPr lang="en-US" sz="1800" dirty="0"/>
          </a:p>
          <a:p>
            <a:pPr marL="228600" indent="-228600">
              <a:spcAft>
                <a:spcPts val="1000"/>
              </a:spcAft>
              <a:buSzPct val="100000"/>
              <a:buChar char="•"/>
            </a:pPr>
            <a:r>
              <a:rPr lang="en-US" sz="1800" dirty="0">
                <a:solidFill>
                  <a:schemeClr val="tx1"/>
                </a:solidFill>
              </a:rPr>
              <a:t>Mobile-friendly navigation</a:t>
            </a:r>
            <a:endParaRPr lang="en-US" sz="1800" dirty="0"/>
          </a:p>
        </p:txBody>
      </p:sp>
      <p:sp>
        <p:nvSpPr>
          <p:cNvPr id="30"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6</a:t>
            </a:fld>
            <a:endParaRPr lang="en-US"/>
          </a:p>
        </p:txBody>
      </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65760"/>
            <a:ext cx="7315200" cy="274320"/>
          </a:xfrm>
          <a:prstGeom prst="rect">
            <a:avLst/>
          </a:prstGeom>
          <a:noFill/>
          <a:ln/>
        </p:spPr>
        <p:txBody>
          <a:bodyPr wrap="square" lIns="0" tIns="0" rIns="0" bIns="0" rtlCol="0" anchor="ctr"/>
          <a:lstStyle/>
          <a:p>
            <a:pPr marL="0" indent="0">
              <a:buNone/>
            </a:pPr>
            <a:r>
              <a:rPr lang="en-US" sz="1400" b="1" kern="0" spc="400" dirty="0">
                <a:solidFill>
                  <a:schemeClr val="accent4"/>
                </a:solidFill>
              </a:rPr>
              <a:t>FEATURES</a:t>
            </a:r>
            <a:endParaRPr lang="en-US" sz="1400" dirty="0"/>
          </a:p>
        </p:txBody>
      </p:sp>
      <p:sp>
        <p:nvSpPr>
          <p:cNvPr id="3" name="Text 0"/>
          <p:cNvSpPr>
            <a:spLocks noGrp="1"/>
          </p:cNvSpPr>
          <p:nvPr>
            <p:ph type="title" idx="101" hasCustomPrompt="1"/>
          </p:nvPr>
        </p:nvSpPr>
        <p:spPr>
          <a:xfrm>
            <a:off x="548640" y="68580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Website Features</a:t>
            </a:r>
            <a:endParaRPr lang="en-US" sz="3400" dirty="0"/>
          </a:p>
        </p:txBody>
      </p:sp>
      <p:sp>
        <p:nvSpPr>
          <p:cNvPr id="4" name="Feature list"/>
          <p:cNvSpPr txBox="1"/>
          <p:nvPr/>
        </p:nvSpPr>
        <p:spPr>
          <a:xfrm>
            <a:off x="548640" y="1691640"/>
            <a:ext cx="5943600" cy="265176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chemeClr val="tx1"/>
                </a:solidFill>
              </a:rPr>
              <a:t>Navigation between website sections</a:t>
            </a:r>
            <a:endParaRPr lang="en-US" sz="1800" dirty="0"/>
          </a:p>
          <a:p>
            <a:pPr marL="228600" indent="-228600">
              <a:spcAft>
                <a:spcPts val="1000"/>
              </a:spcAft>
              <a:buSzPct val="100000"/>
              <a:buChar char="•"/>
            </a:pPr>
            <a:r>
              <a:rPr lang="en-US" sz="1800" dirty="0">
                <a:solidFill>
                  <a:schemeClr val="tx1"/>
                </a:solidFill>
              </a:rPr>
              <a:t>Restaurant information display</a:t>
            </a:r>
            <a:endParaRPr lang="en-US" sz="1800" dirty="0"/>
          </a:p>
          <a:p>
            <a:pPr marL="228600" indent="-228600">
              <a:spcAft>
                <a:spcPts val="1000"/>
              </a:spcAft>
              <a:buSzPct val="100000"/>
              <a:buChar char="•"/>
            </a:pPr>
            <a:r>
              <a:rPr lang="en-US" sz="1800" dirty="0">
                <a:solidFill>
                  <a:schemeClr val="tx1"/>
                </a:solidFill>
              </a:rPr>
              <a:t>Menu cards with sample prices</a:t>
            </a:r>
            <a:endParaRPr lang="en-US" sz="1800" dirty="0"/>
          </a:p>
          <a:p>
            <a:pPr marL="228600" indent="-228600">
              <a:spcAft>
                <a:spcPts val="1000"/>
              </a:spcAft>
              <a:buSzPct val="100000"/>
              <a:buChar char="•"/>
            </a:pPr>
            <a:r>
              <a:rPr lang="en-US" sz="1800" dirty="0">
                <a:solidFill>
                  <a:schemeClr val="tx1"/>
                </a:solidFill>
              </a:rPr>
              <a:t>Reservation form with preferences</a:t>
            </a:r>
            <a:endParaRPr lang="en-US" sz="1800" dirty="0"/>
          </a:p>
          <a:p>
            <a:pPr marL="228600" indent="-228600">
              <a:spcAft>
                <a:spcPts val="1000"/>
              </a:spcAft>
              <a:buSzPct val="100000"/>
              <a:buChar char="•"/>
            </a:pPr>
            <a:r>
              <a:rPr lang="en-US" sz="1800" dirty="0">
                <a:solidFill>
                  <a:schemeClr val="tx1"/>
                </a:solidFill>
              </a:rPr>
              <a:t>Interactive visual effects</a:t>
            </a:r>
            <a:endParaRPr lang="en-US" sz="1800" dirty="0"/>
          </a:p>
          <a:p>
            <a:pPr marL="228600" indent="-228600">
              <a:spcAft>
                <a:spcPts val="1000"/>
              </a:spcAft>
              <a:buSzPct val="100000"/>
              <a:buChar char="•"/>
            </a:pPr>
            <a:r>
              <a:rPr lang="en-US" sz="1800" dirty="0">
                <a:solidFill>
                  <a:schemeClr val="tx1"/>
                </a:solidFill>
              </a:rPr>
              <a:t>Responsive navigation and layout</a:t>
            </a:r>
            <a:endParaRPr lang="en-US" sz="1800" dirty="0"/>
          </a:p>
        </p:txBody>
      </p:sp>
      <p:sp>
        <p:nvSpPr>
          <p:cNvPr id="5" name="Limitation card"/>
          <p:cNvSpPr/>
          <p:nvPr/>
        </p:nvSpPr>
        <p:spPr>
          <a:xfrm>
            <a:off x="6858000" y="1691640"/>
            <a:ext cx="4782312" cy="2651760"/>
          </a:xfrm>
          <a:prstGeom prst="rect">
            <a:avLst/>
          </a:prstGeom>
          <a:solidFill>
            <a:schemeClr val="tx2"/>
          </a:solidFill>
          <a:ln w="12700">
            <a:solidFill>
              <a:schemeClr val="tx2"/>
            </a:solidFill>
            <a:prstDash val="solid"/>
          </a:ln>
        </p:spPr>
      </p:sp>
      <p:pic>
        <p:nvPicPr>
          <p:cNvPr id="6" name="Limitation icon" descr="Information icon"/>
          <p:cNvPicPr>
            <a:picLocks noChangeAspect="1"/>
          </p:cNvPicPr>
          <p:nvPr/>
        </p:nvPicPr>
        <p:blipFill>
          <a:blip r:embed="rId3"/>
          <a:stretch>
            <a:fillRect/>
          </a:stretch>
        </p:blipFill>
        <p:spPr>
          <a:xfrm>
            <a:off x="7223760" y="1965960"/>
            <a:ext cx="365760" cy="365760"/>
          </a:xfrm>
          <a:prstGeom prst="rect">
            <a:avLst/>
          </a:prstGeom>
        </p:spPr>
      </p:pic>
      <p:sp>
        <p:nvSpPr>
          <p:cNvPr id="7" name="Limitation heading"/>
          <p:cNvSpPr txBox="1"/>
          <p:nvPr/>
        </p:nvSpPr>
        <p:spPr>
          <a:xfrm>
            <a:off x="7772400" y="1965960"/>
            <a:ext cx="3657600" cy="365760"/>
          </a:xfrm>
          <a:prstGeom prst="rect">
            <a:avLst/>
          </a:prstGeom>
          <a:noFill/>
          <a:ln/>
        </p:spPr>
        <p:txBody>
          <a:bodyPr wrap="square" lIns="0" tIns="0" rIns="0" bIns="0" rtlCol="0" anchor="ctr"/>
          <a:lstStyle/>
          <a:p>
            <a:pPr marL="0" indent="0">
              <a:buNone/>
            </a:pPr>
            <a:r>
              <a:rPr lang="en-US" sz="2000" b="1" dirty="0">
                <a:solidFill>
                  <a:schemeClr val="bg1"/>
                </a:solidFill>
                <a:latin typeface="Cambria" pitchFamily="34" charset="0"/>
                <a:ea typeface="Cambria" pitchFamily="34" charset="-122"/>
                <a:cs typeface="Cambria" pitchFamily="34" charset="-120"/>
              </a:rPr>
              <a:t>Demonstration Note</a:t>
            </a:r>
            <a:endParaRPr lang="en-US" sz="2000" dirty="0"/>
          </a:p>
        </p:txBody>
      </p:sp>
      <p:sp>
        <p:nvSpPr>
          <p:cNvPr id="8" name="Limitation text"/>
          <p:cNvSpPr txBox="1"/>
          <p:nvPr/>
        </p:nvSpPr>
        <p:spPr>
          <a:xfrm>
            <a:off x="7223760" y="2560320"/>
            <a:ext cx="4114800" cy="1645920"/>
          </a:xfrm>
          <a:prstGeom prst="rect">
            <a:avLst/>
          </a:prstGeom>
          <a:noFill/>
          <a:ln/>
        </p:spPr>
        <p:txBody>
          <a:bodyPr wrap="square" lIns="0" tIns="0" rIns="0" bIns="0" rtlCol="0" anchor="t"/>
          <a:lstStyle/>
          <a:p>
            <a:pPr marL="0" indent="0">
              <a:buNone/>
            </a:pPr>
            <a:r>
              <a:rPr lang="en-US" sz="1600" dirty="0">
                <a:solidFill>
                  <a:schemeClr val="bg2"/>
                </a:solidFill>
              </a:rPr>
              <a:t>The reservation form is a front-end demonstration. It does not send booking details to a server, store reservations in a database, or create an actual booking.</a:t>
            </a:r>
            <a:endParaRPr lang="en-US" sz="1600" dirty="0"/>
          </a:p>
        </p:txBody>
      </p:sp>
      <p:sp>
        <p:nvSpPr>
          <p:cNvPr id="9" name="Journey label"/>
          <p:cNvSpPr txBox="1"/>
          <p:nvPr/>
        </p:nvSpPr>
        <p:spPr>
          <a:xfrm>
            <a:off x="548640" y="4526280"/>
            <a:ext cx="4572000" cy="274320"/>
          </a:xfrm>
          <a:prstGeom prst="rect">
            <a:avLst/>
          </a:prstGeom>
          <a:noFill/>
          <a:ln/>
        </p:spPr>
        <p:txBody>
          <a:bodyPr wrap="square" lIns="0" tIns="0" rIns="0" bIns="0" rtlCol="0" anchor="ctr"/>
          <a:lstStyle/>
          <a:p>
            <a:pPr marL="0" indent="0">
              <a:buNone/>
            </a:pPr>
            <a:r>
              <a:rPr lang="en-US" sz="1400" b="1" kern="0" spc="400" dirty="0">
                <a:solidFill>
                  <a:schemeClr val="accent4"/>
                </a:solidFill>
              </a:rPr>
              <a:t>USER JOURNEY</a:t>
            </a:r>
            <a:endParaRPr lang="en-US" sz="1400" dirty="0"/>
          </a:p>
        </p:txBody>
      </p:sp>
      <p:sp>
        <p:nvSpPr>
          <p:cNvPr id="10" name="Journey step 1"/>
          <p:cNvSpPr/>
          <p:nvPr/>
        </p:nvSpPr>
        <p:spPr>
          <a:xfrm>
            <a:off x="548640" y="4892040"/>
            <a:ext cx="2331720" cy="1188720"/>
          </a:xfrm>
          <a:prstGeom prst="rect">
            <a:avLst/>
          </a:prstGeom>
          <a:solidFill>
            <a:schemeClr val="bg2"/>
          </a:solidFill>
          <a:ln w="12700">
            <a:solidFill>
              <a:schemeClr val="bg2"/>
            </a:solidFill>
            <a:prstDash val="solid"/>
          </a:ln>
        </p:spPr>
      </p:sp>
      <p:sp>
        <p:nvSpPr>
          <p:cNvPr id="11" name="Journey 1 circle"/>
          <p:cNvSpPr/>
          <p:nvPr/>
        </p:nvSpPr>
        <p:spPr>
          <a:xfrm>
            <a:off x="731520" y="5212080"/>
            <a:ext cx="548640" cy="548640"/>
          </a:xfrm>
          <a:prstGeom prst="ellipse">
            <a:avLst/>
          </a:prstGeom>
          <a:solidFill>
            <a:schemeClr val="tx2"/>
          </a:solidFill>
          <a:ln w="12700">
            <a:solidFill>
              <a:schemeClr val="tx2"/>
            </a:solidFill>
            <a:prstDash val="solid"/>
          </a:ln>
        </p:spPr>
      </p:sp>
      <p:pic>
        <p:nvPicPr>
          <p:cNvPr id="12" name="Journey 1 icon" descr="Journey 1"/>
          <p:cNvPicPr>
            <a:picLocks noChangeAspect="1"/>
          </p:cNvPicPr>
          <p:nvPr/>
        </p:nvPicPr>
        <p:blipFill>
          <a:blip r:embed="rId4"/>
          <a:stretch>
            <a:fillRect/>
          </a:stretch>
        </p:blipFill>
        <p:spPr>
          <a:xfrm>
            <a:off x="879653" y="5360213"/>
            <a:ext cx="252374" cy="252374"/>
          </a:xfrm>
          <a:prstGeom prst="rect">
            <a:avLst/>
          </a:prstGeom>
        </p:spPr>
      </p:pic>
      <p:sp>
        <p:nvSpPr>
          <p:cNvPr id="13" name="Journey text 1"/>
          <p:cNvSpPr txBox="1"/>
          <p:nvPr/>
        </p:nvSpPr>
        <p:spPr>
          <a:xfrm>
            <a:off x="1417320" y="4892040"/>
            <a:ext cx="1371600" cy="1188720"/>
          </a:xfrm>
          <a:prstGeom prst="rect">
            <a:avLst/>
          </a:prstGeom>
          <a:noFill/>
          <a:ln/>
        </p:spPr>
        <p:txBody>
          <a:bodyPr wrap="square" lIns="0" tIns="0" rIns="0" bIns="0" rtlCol="0" anchor="ctr"/>
          <a:lstStyle/>
          <a:p>
            <a:pPr marL="0" indent="0">
              <a:buNone/>
            </a:pPr>
            <a:r>
              <a:rPr lang="en-US" sz="1600" b="1" dirty="0">
                <a:solidFill>
                  <a:schemeClr val="tx2"/>
                </a:solidFill>
              </a:rPr>
              <a:t>Open Website</a:t>
            </a:r>
            <a:endParaRPr lang="en-US" sz="1600" dirty="0"/>
          </a:p>
        </p:txBody>
      </p:sp>
      <p:sp>
        <p:nvSpPr>
          <p:cNvPr id="14" name="Journey arrow 1"/>
          <p:cNvSpPr/>
          <p:nvPr/>
        </p:nvSpPr>
        <p:spPr>
          <a:xfrm>
            <a:off x="3017520" y="5349240"/>
            <a:ext cx="274320" cy="274320"/>
          </a:xfrm>
          <a:prstGeom prst="rightArrow">
            <a:avLst/>
          </a:prstGeom>
          <a:solidFill>
            <a:schemeClr val="accent1"/>
          </a:solidFill>
          <a:ln w="12700">
            <a:solidFill>
              <a:schemeClr val="accent1"/>
            </a:solidFill>
            <a:prstDash val="solid"/>
          </a:ln>
        </p:spPr>
      </p:sp>
      <p:sp>
        <p:nvSpPr>
          <p:cNvPr id="15" name="Journey step 2"/>
          <p:cNvSpPr/>
          <p:nvPr/>
        </p:nvSpPr>
        <p:spPr>
          <a:xfrm>
            <a:off x="3429000" y="4892040"/>
            <a:ext cx="2331720" cy="1188720"/>
          </a:xfrm>
          <a:prstGeom prst="rect">
            <a:avLst/>
          </a:prstGeom>
          <a:solidFill>
            <a:schemeClr val="bg2"/>
          </a:solidFill>
          <a:ln w="12700">
            <a:solidFill>
              <a:schemeClr val="bg2"/>
            </a:solidFill>
            <a:prstDash val="solid"/>
          </a:ln>
        </p:spPr>
      </p:sp>
      <p:sp>
        <p:nvSpPr>
          <p:cNvPr id="16" name="Journey 2 circle"/>
          <p:cNvSpPr/>
          <p:nvPr/>
        </p:nvSpPr>
        <p:spPr>
          <a:xfrm>
            <a:off x="3611880" y="5212080"/>
            <a:ext cx="548640" cy="548640"/>
          </a:xfrm>
          <a:prstGeom prst="ellipse">
            <a:avLst/>
          </a:prstGeom>
          <a:solidFill>
            <a:schemeClr val="tx2"/>
          </a:solidFill>
          <a:ln w="12700">
            <a:solidFill>
              <a:schemeClr val="tx2"/>
            </a:solidFill>
            <a:prstDash val="solid"/>
          </a:ln>
        </p:spPr>
      </p:sp>
      <p:pic>
        <p:nvPicPr>
          <p:cNvPr id="17" name="Journey 2 icon" descr="Journey 2"/>
          <p:cNvPicPr>
            <a:picLocks noChangeAspect="1"/>
          </p:cNvPicPr>
          <p:nvPr/>
        </p:nvPicPr>
        <p:blipFill>
          <a:blip r:embed="rId5"/>
          <a:stretch>
            <a:fillRect/>
          </a:stretch>
        </p:blipFill>
        <p:spPr>
          <a:xfrm>
            <a:off x="3760013" y="5360213"/>
            <a:ext cx="252374" cy="252374"/>
          </a:xfrm>
          <a:prstGeom prst="rect">
            <a:avLst/>
          </a:prstGeom>
        </p:spPr>
      </p:pic>
      <p:sp>
        <p:nvSpPr>
          <p:cNvPr id="18" name="Journey text 2"/>
          <p:cNvSpPr txBox="1"/>
          <p:nvPr/>
        </p:nvSpPr>
        <p:spPr>
          <a:xfrm>
            <a:off x="4297680" y="4892040"/>
            <a:ext cx="1371600" cy="1188720"/>
          </a:xfrm>
          <a:prstGeom prst="rect">
            <a:avLst/>
          </a:prstGeom>
          <a:noFill/>
          <a:ln/>
        </p:spPr>
        <p:txBody>
          <a:bodyPr wrap="square" lIns="0" tIns="0" rIns="0" bIns="0" rtlCol="0" anchor="ctr"/>
          <a:lstStyle/>
          <a:p>
            <a:pPr marL="0" indent="0">
              <a:buNone/>
            </a:pPr>
            <a:r>
              <a:rPr lang="en-US" sz="1600" b="1" dirty="0">
                <a:solidFill>
                  <a:schemeClr val="tx2"/>
                </a:solidFill>
              </a:rPr>
              <a:t>Explore Restaurant</a:t>
            </a:r>
            <a:endParaRPr lang="en-US" sz="1600" dirty="0"/>
          </a:p>
        </p:txBody>
      </p:sp>
      <p:sp>
        <p:nvSpPr>
          <p:cNvPr id="19" name="Journey arrow 2"/>
          <p:cNvSpPr/>
          <p:nvPr/>
        </p:nvSpPr>
        <p:spPr>
          <a:xfrm>
            <a:off x="5897880" y="5349240"/>
            <a:ext cx="274320" cy="274320"/>
          </a:xfrm>
          <a:prstGeom prst="rightArrow">
            <a:avLst/>
          </a:prstGeom>
          <a:solidFill>
            <a:schemeClr val="accent1"/>
          </a:solidFill>
          <a:ln w="12700">
            <a:solidFill>
              <a:schemeClr val="accent1"/>
            </a:solidFill>
            <a:prstDash val="solid"/>
          </a:ln>
        </p:spPr>
      </p:sp>
      <p:sp>
        <p:nvSpPr>
          <p:cNvPr id="20" name="Journey step 3"/>
          <p:cNvSpPr/>
          <p:nvPr/>
        </p:nvSpPr>
        <p:spPr>
          <a:xfrm>
            <a:off x="6309360" y="4892040"/>
            <a:ext cx="2331720" cy="1188720"/>
          </a:xfrm>
          <a:prstGeom prst="rect">
            <a:avLst/>
          </a:prstGeom>
          <a:solidFill>
            <a:schemeClr val="bg2"/>
          </a:solidFill>
          <a:ln w="12700">
            <a:solidFill>
              <a:schemeClr val="bg2"/>
            </a:solidFill>
            <a:prstDash val="solid"/>
          </a:ln>
        </p:spPr>
      </p:sp>
      <p:sp>
        <p:nvSpPr>
          <p:cNvPr id="21" name="Journey 3 circle"/>
          <p:cNvSpPr/>
          <p:nvPr/>
        </p:nvSpPr>
        <p:spPr>
          <a:xfrm>
            <a:off x="6492240" y="5212080"/>
            <a:ext cx="548640" cy="548640"/>
          </a:xfrm>
          <a:prstGeom prst="ellipse">
            <a:avLst/>
          </a:prstGeom>
          <a:solidFill>
            <a:schemeClr val="tx2"/>
          </a:solidFill>
          <a:ln w="12700">
            <a:solidFill>
              <a:schemeClr val="tx2"/>
            </a:solidFill>
            <a:prstDash val="solid"/>
          </a:ln>
        </p:spPr>
      </p:sp>
      <p:pic>
        <p:nvPicPr>
          <p:cNvPr id="22" name="Journey 3 icon" descr="Journey 3"/>
          <p:cNvPicPr>
            <a:picLocks noChangeAspect="1"/>
          </p:cNvPicPr>
          <p:nvPr/>
        </p:nvPicPr>
        <p:blipFill>
          <a:blip r:embed="rId6"/>
          <a:stretch>
            <a:fillRect/>
          </a:stretch>
        </p:blipFill>
        <p:spPr>
          <a:xfrm>
            <a:off x="6640373" y="5360213"/>
            <a:ext cx="252374" cy="252374"/>
          </a:xfrm>
          <a:prstGeom prst="rect">
            <a:avLst/>
          </a:prstGeom>
        </p:spPr>
      </p:pic>
      <p:sp>
        <p:nvSpPr>
          <p:cNvPr id="23" name="Journey text 3"/>
          <p:cNvSpPr txBox="1"/>
          <p:nvPr/>
        </p:nvSpPr>
        <p:spPr>
          <a:xfrm>
            <a:off x="7178040" y="4892040"/>
            <a:ext cx="1371600" cy="1188720"/>
          </a:xfrm>
          <a:prstGeom prst="rect">
            <a:avLst/>
          </a:prstGeom>
          <a:noFill/>
          <a:ln/>
        </p:spPr>
        <p:txBody>
          <a:bodyPr wrap="square" lIns="0" tIns="0" rIns="0" bIns="0" rtlCol="0" anchor="ctr"/>
          <a:lstStyle/>
          <a:p>
            <a:pPr marL="0" indent="0">
              <a:buNone/>
            </a:pPr>
            <a:r>
              <a:rPr lang="en-US" sz="1600" b="1" dirty="0">
                <a:solidFill>
                  <a:schemeClr val="tx2"/>
                </a:solidFill>
              </a:rPr>
              <a:t>View Menu</a:t>
            </a:r>
            <a:endParaRPr lang="en-US" sz="1600" dirty="0"/>
          </a:p>
        </p:txBody>
      </p:sp>
      <p:sp>
        <p:nvSpPr>
          <p:cNvPr id="24" name="Journey arrow 3"/>
          <p:cNvSpPr/>
          <p:nvPr/>
        </p:nvSpPr>
        <p:spPr>
          <a:xfrm>
            <a:off x="8778240" y="5349240"/>
            <a:ext cx="274320" cy="274320"/>
          </a:xfrm>
          <a:prstGeom prst="rightArrow">
            <a:avLst/>
          </a:prstGeom>
          <a:solidFill>
            <a:schemeClr val="accent1"/>
          </a:solidFill>
          <a:ln w="12700">
            <a:solidFill>
              <a:schemeClr val="accent1"/>
            </a:solidFill>
            <a:prstDash val="solid"/>
          </a:ln>
        </p:spPr>
      </p:sp>
      <p:sp>
        <p:nvSpPr>
          <p:cNvPr id="25" name="Journey step 4"/>
          <p:cNvSpPr/>
          <p:nvPr/>
        </p:nvSpPr>
        <p:spPr>
          <a:xfrm>
            <a:off x="9189720" y="4892040"/>
            <a:ext cx="2331720" cy="1188720"/>
          </a:xfrm>
          <a:prstGeom prst="rect">
            <a:avLst/>
          </a:prstGeom>
          <a:solidFill>
            <a:schemeClr val="bg2"/>
          </a:solidFill>
          <a:ln w="12700">
            <a:solidFill>
              <a:schemeClr val="bg2"/>
            </a:solidFill>
            <a:prstDash val="solid"/>
          </a:ln>
        </p:spPr>
      </p:sp>
      <p:sp>
        <p:nvSpPr>
          <p:cNvPr id="26" name="Journey 4 circle"/>
          <p:cNvSpPr/>
          <p:nvPr/>
        </p:nvSpPr>
        <p:spPr>
          <a:xfrm>
            <a:off x="9372600" y="5212080"/>
            <a:ext cx="548640" cy="548640"/>
          </a:xfrm>
          <a:prstGeom prst="ellipse">
            <a:avLst/>
          </a:prstGeom>
          <a:solidFill>
            <a:schemeClr val="tx2"/>
          </a:solidFill>
          <a:ln w="12700">
            <a:solidFill>
              <a:schemeClr val="tx2"/>
            </a:solidFill>
            <a:prstDash val="solid"/>
          </a:ln>
        </p:spPr>
      </p:sp>
      <p:pic>
        <p:nvPicPr>
          <p:cNvPr id="27" name="Journey 4 icon" descr="Journey 4"/>
          <p:cNvPicPr>
            <a:picLocks noChangeAspect="1"/>
          </p:cNvPicPr>
          <p:nvPr/>
        </p:nvPicPr>
        <p:blipFill>
          <a:blip r:embed="rId7"/>
          <a:stretch>
            <a:fillRect/>
          </a:stretch>
        </p:blipFill>
        <p:spPr>
          <a:xfrm>
            <a:off x="9520733" y="5360213"/>
            <a:ext cx="252374" cy="252374"/>
          </a:xfrm>
          <a:prstGeom prst="rect">
            <a:avLst/>
          </a:prstGeom>
        </p:spPr>
      </p:pic>
      <p:sp>
        <p:nvSpPr>
          <p:cNvPr id="28" name="Journey text 4"/>
          <p:cNvSpPr txBox="1"/>
          <p:nvPr/>
        </p:nvSpPr>
        <p:spPr>
          <a:xfrm>
            <a:off x="10058400" y="4892040"/>
            <a:ext cx="1371600" cy="1188720"/>
          </a:xfrm>
          <a:prstGeom prst="rect">
            <a:avLst/>
          </a:prstGeom>
          <a:noFill/>
          <a:ln/>
        </p:spPr>
        <p:txBody>
          <a:bodyPr wrap="square" lIns="0" tIns="0" rIns="0" bIns="0" rtlCol="0" anchor="ctr"/>
          <a:lstStyle/>
          <a:p>
            <a:pPr marL="0" indent="0">
              <a:buNone/>
            </a:pPr>
            <a:r>
              <a:rPr lang="en-US" sz="1600" b="1" dirty="0">
                <a:solidFill>
                  <a:schemeClr val="tx2"/>
                </a:solidFill>
              </a:rPr>
              <a:t>Enter Reservation Details</a:t>
            </a:r>
            <a:endParaRPr lang="en-US" sz="1600" dirty="0"/>
          </a:p>
        </p:txBody>
      </p:sp>
      <p:sp>
        <p:nvSpPr>
          <p:cNvPr id="29"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7</a:t>
            </a:fld>
            <a:endParaRPr lang="en-US"/>
          </a:p>
        </p:txBody>
      </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65760"/>
            <a:ext cx="7315200" cy="274320"/>
          </a:xfrm>
          <a:prstGeom prst="rect">
            <a:avLst/>
          </a:prstGeom>
          <a:noFill/>
          <a:ln/>
        </p:spPr>
        <p:txBody>
          <a:bodyPr wrap="square" lIns="0" tIns="0" rIns="0" bIns="0" rtlCol="0" anchor="ctr"/>
          <a:lstStyle/>
          <a:p>
            <a:pPr marL="0" indent="0">
              <a:buNone/>
            </a:pPr>
            <a:r>
              <a:rPr lang="en-US" sz="1400" b="1" kern="0" spc="400" dirty="0">
                <a:solidFill>
                  <a:schemeClr val="accent4"/>
                </a:solidFill>
              </a:rPr>
              <a:t>CONCLUSION</a:t>
            </a:r>
            <a:endParaRPr lang="en-US" sz="1400" dirty="0"/>
          </a:p>
        </p:txBody>
      </p:sp>
      <p:sp>
        <p:nvSpPr>
          <p:cNvPr id="3" name="Text 0"/>
          <p:cNvSpPr>
            <a:spLocks noGrp="1"/>
          </p:cNvSpPr>
          <p:nvPr>
            <p:ph type="title" idx="101" hasCustomPrompt="1"/>
          </p:nvPr>
        </p:nvSpPr>
        <p:spPr>
          <a:xfrm>
            <a:off x="548640" y="68580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Conclusion and Future Scope</a:t>
            </a:r>
            <a:endParaRPr lang="en-US" sz="3400" dirty="0"/>
          </a:p>
        </p:txBody>
      </p:sp>
      <p:sp>
        <p:nvSpPr>
          <p:cNvPr id="4" name="Conclusion card"/>
          <p:cNvSpPr/>
          <p:nvPr/>
        </p:nvSpPr>
        <p:spPr>
          <a:xfrm>
            <a:off x="548640" y="1691640"/>
            <a:ext cx="5440680" cy="3246120"/>
          </a:xfrm>
          <a:prstGeom prst="rect">
            <a:avLst/>
          </a:prstGeom>
          <a:solidFill>
            <a:schemeClr val="bg2"/>
          </a:solidFill>
          <a:ln w="12700">
            <a:solidFill>
              <a:schemeClr val="bg2"/>
            </a:solidFill>
            <a:prstDash val="solid"/>
          </a:ln>
        </p:spPr>
      </p:sp>
      <p:sp>
        <p:nvSpPr>
          <p:cNvPr id="5" name="Conclusion heading"/>
          <p:cNvSpPr txBox="1"/>
          <p:nvPr/>
        </p:nvSpPr>
        <p:spPr>
          <a:xfrm>
            <a:off x="868680" y="1828800"/>
            <a:ext cx="4754880" cy="502920"/>
          </a:xfrm>
          <a:prstGeom prst="rect">
            <a:avLst/>
          </a:prstGeom>
          <a:noFill/>
          <a:ln/>
        </p:spPr>
        <p:txBody>
          <a:bodyPr wrap="square" lIns="0" tIns="0" rIns="0" bIns="0" rtlCol="0" anchor="ctr"/>
          <a:lstStyle/>
          <a:p>
            <a:pPr marL="0" indent="0">
              <a:buNone/>
            </a:pPr>
            <a:r>
              <a:rPr lang="en-US" sz="2400" b="1" dirty="0">
                <a:solidFill>
                  <a:schemeClr val="tx2"/>
                </a:solidFill>
                <a:latin typeface="Cambria" pitchFamily="34" charset="0"/>
                <a:ea typeface="Cambria" pitchFamily="34" charset="-122"/>
                <a:cs typeface="Cambria" pitchFamily="34" charset="-120"/>
              </a:rPr>
              <a:t>Conclusion</a:t>
            </a:r>
            <a:endParaRPr lang="en-US" sz="2400" dirty="0"/>
          </a:p>
        </p:txBody>
      </p:sp>
      <p:sp>
        <p:nvSpPr>
          <p:cNvPr id="6" name="Conclusion list"/>
          <p:cNvSpPr txBox="1"/>
          <p:nvPr/>
        </p:nvSpPr>
        <p:spPr>
          <a:xfrm>
            <a:off x="868680" y="2423160"/>
            <a:ext cx="4846320" cy="2423160"/>
          </a:xfrm>
          <a:prstGeom prst="rect">
            <a:avLst/>
          </a:prstGeom>
          <a:noFill/>
          <a:ln/>
        </p:spPr>
        <p:txBody>
          <a:bodyPr wrap="square" lIns="0" tIns="0" rIns="0" bIns="0" rtlCol="0" anchor="t"/>
          <a:lstStyle/>
          <a:p>
            <a:pPr marL="228600" indent="-228600">
              <a:spcAft>
                <a:spcPts val="500"/>
              </a:spcAft>
              <a:buSzPct val="100000"/>
              <a:buChar char="•"/>
            </a:pPr>
            <a:r>
              <a:rPr lang="en-US" sz="1800" dirty="0">
                <a:solidFill>
                  <a:schemeClr val="tx1"/>
                </a:solidFill>
              </a:rPr>
              <a:t>Modern restaurant website interface</a:t>
            </a:r>
            <a:endParaRPr lang="en-US" sz="1800" dirty="0"/>
          </a:p>
          <a:p>
            <a:pPr marL="228600" indent="-228600">
              <a:spcAft>
                <a:spcPts val="500"/>
              </a:spcAft>
              <a:buSzPct val="100000"/>
              <a:buChar char="•"/>
            </a:pPr>
            <a:r>
              <a:rPr lang="en-US" sz="1800" dirty="0">
                <a:solidFill>
                  <a:schemeClr val="tx1"/>
                </a:solidFill>
              </a:rPr>
              <a:t>Clear, organized information sections</a:t>
            </a:r>
            <a:endParaRPr lang="en-US" sz="1800" dirty="0"/>
          </a:p>
          <a:p>
            <a:pPr marL="228600" indent="-228600">
              <a:spcAft>
                <a:spcPts val="500"/>
              </a:spcAft>
              <a:buSzPct val="100000"/>
              <a:buChar char="•"/>
            </a:pPr>
            <a:r>
              <a:rPr lang="en-US" sz="1800" dirty="0">
                <a:solidFill>
                  <a:schemeClr val="tx1"/>
                </a:solidFill>
              </a:rPr>
              <a:t>Sample menu items and prices</a:t>
            </a:r>
            <a:endParaRPr lang="en-US" sz="1800" dirty="0"/>
          </a:p>
          <a:p>
            <a:pPr marL="228600" indent="-228600">
              <a:spcAft>
                <a:spcPts val="500"/>
              </a:spcAft>
              <a:buSzPct val="100000"/>
              <a:buChar char="•"/>
            </a:pPr>
            <a:r>
              <a:rPr lang="en-US" sz="1800" dirty="0">
                <a:solidFill>
                  <a:schemeClr val="tx1"/>
                </a:solidFill>
              </a:rPr>
              <a:t>Reservation form designed</a:t>
            </a:r>
            <a:endParaRPr lang="en-US" sz="1800" dirty="0"/>
          </a:p>
          <a:p>
            <a:pPr marL="228600" indent="-228600">
              <a:spcAft>
                <a:spcPts val="500"/>
              </a:spcAft>
              <a:buSzPct val="100000"/>
              <a:buChar char="•"/>
            </a:pPr>
            <a:r>
              <a:rPr lang="en-US" sz="1800" dirty="0">
                <a:solidFill>
                  <a:schemeClr val="tx1"/>
                </a:solidFill>
              </a:rPr>
              <a:t>Responsive, interactive interface</a:t>
            </a:r>
            <a:endParaRPr lang="en-US" sz="1800" dirty="0"/>
          </a:p>
        </p:txBody>
      </p:sp>
      <p:sp>
        <p:nvSpPr>
          <p:cNvPr id="7" name="Future card"/>
          <p:cNvSpPr/>
          <p:nvPr/>
        </p:nvSpPr>
        <p:spPr>
          <a:xfrm>
            <a:off x="6199632" y="1691640"/>
            <a:ext cx="5440680" cy="3246120"/>
          </a:xfrm>
          <a:prstGeom prst="rect">
            <a:avLst/>
          </a:prstGeom>
          <a:solidFill>
            <a:schemeClr val="bg2"/>
          </a:solidFill>
          <a:ln w="12700">
            <a:solidFill>
              <a:schemeClr val="bg2"/>
            </a:solidFill>
            <a:prstDash val="solid"/>
          </a:ln>
        </p:spPr>
      </p:sp>
      <p:sp>
        <p:nvSpPr>
          <p:cNvPr id="8" name="Future heading"/>
          <p:cNvSpPr txBox="1"/>
          <p:nvPr/>
        </p:nvSpPr>
        <p:spPr>
          <a:xfrm>
            <a:off x="6519672" y="1828800"/>
            <a:ext cx="4754880" cy="502920"/>
          </a:xfrm>
          <a:prstGeom prst="rect">
            <a:avLst/>
          </a:prstGeom>
          <a:noFill/>
          <a:ln/>
        </p:spPr>
        <p:txBody>
          <a:bodyPr wrap="square" lIns="0" tIns="0" rIns="0" bIns="0" rtlCol="0" anchor="ctr"/>
          <a:lstStyle/>
          <a:p>
            <a:pPr marL="0" indent="0">
              <a:buNone/>
            </a:pPr>
            <a:r>
              <a:rPr lang="en-US" sz="2400" b="1" dirty="0">
                <a:solidFill>
                  <a:schemeClr val="tx2"/>
                </a:solidFill>
                <a:latin typeface="Cambria" pitchFamily="34" charset="0"/>
                <a:ea typeface="Cambria" pitchFamily="34" charset="-122"/>
                <a:cs typeface="Cambria" pitchFamily="34" charset="-120"/>
              </a:rPr>
              <a:t>Future Scope</a:t>
            </a:r>
            <a:endParaRPr lang="en-US" sz="2400" dirty="0"/>
          </a:p>
        </p:txBody>
      </p:sp>
      <p:sp>
        <p:nvSpPr>
          <p:cNvPr id="9" name="Future list"/>
          <p:cNvSpPr txBox="1"/>
          <p:nvPr/>
        </p:nvSpPr>
        <p:spPr>
          <a:xfrm>
            <a:off x="6519672" y="2423160"/>
            <a:ext cx="4846320" cy="2423160"/>
          </a:xfrm>
          <a:prstGeom prst="rect">
            <a:avLst/>
          </a:prstGeom>
          <a:noFill/>
          <a:ln/>
        </p:spPr>
        <p:txBody>
          <a:bodyPr wrap="square" lIns="0" tIns="0" rIns="0" bIns="0" rtlCol="0" anchor="t"/>
          <a:lstStyle/>
          <a:p>
            <a:pPr marL="228600" indent="-228600">
              <a:spcAft>
                <a:spcPts val="500"/>
              </a:spcAft>
              <a:buSzPct val="100000"/>
              <a:buChar char="•"/>
            </a:pPr>
            <a:r>
              <a:rPr lang="en-US" sz="1800" dirty="0">
                <a:solidFill>
                  <a:schemeClr val="tx1"/>
                </a:solidFill>
              </a:rPr>
              <a:t>Integrate a backend</a:t>
            </a:r>
            <a:endParaRPr lang="en-US" sz="1800" dirty="0"/>
          </a:p>
          <a:p>
            <a:pPr marL="228600" indent="-228600">
              <a:spcAft>
                <a:spcPts val="500"/>
              </a:spcAft>
              <a:buSzPct val="100000"/>
              <a:buChar char="•"/>
            </a:pPr>
            <a:r>
              <a:rPr lang="en-US" sz="1800" dirty="0">
                <a:solidFill>
                  <a:schemeClr val="tx1"/>
                </a:solidFill>
              </a:rPr>
              <a:t>Database to store reservations</a:t>
            </a:r>
            <a:endParaRPr lang="en-US" sz="1800" dirty="0"/>
          </a:p>
          <a:p>
            <a:pPr marL="228600" indent="-228600">
              <a:spcAft>
                <a:spcPts val="500"/>
              </a:spcAft>
              <a:buSzPct val="100000"/>
              <a:buChar char="•"/>
            </a:pPr>
            <a:r>
              <a:rPr lang="en-US" sz="1800" dirty="0">
                <a:solidFill>
                  <a:schemeClr val="tx1"/>
                </a:solidFill>
              </a:rPr>
              <a:t>Administrator dashboard</a:t>
            </a:r>
            <a:endParaRPr lang="en-US" sz="1800" dirty="0"/>
          </a:p>
          <a:p>
            <a:pPr marL="228600" indent="-228600">
              <a:spcAft>
                <a:spcPts val="500"/>
              </a:spcAft>
              <a:buSzPct val="100000"/>
              <a:buChar char="•"/>
            </a:pPr>
            <a:r>
              <a:rPr lang="en-US" sz="1800" dirty="0">
                <a:solidFill>
                  <a:schemeClr val="tx1"/>
                </a:solidFill>
              </a:rPr>
              <a:t>Real-time table availability</a:t>
            </a:r>
            <a:endParaRPr lang="en-US" sz="1800" dirty="0"/>
          </a:p>
          <a:p>
            <a:pPr marL="228600" indent="-228600">
              <a:spcAft>
                <a:spcPts val="500"/>
              </a:spcAft>
              <a:buSzPct val="100000"/>
              <a:buChar char="•"/>
            </a:pPr>
            <a:r>
              <a:rPr lang="en-US" sz="1800" dirty="0">
                <a:solidFill>
                  <a:schemeClr val="tx1"/>
                </a:solidFill>
              </a:rPr>
              <a:t>Online payment functionality</a:t>
            </a:r>
            <a:endParaRPr lang="en-US" sz="1800" dirty="0"/>
          </a:p>
          <a:p>
            <a:pPr marL="228600" indent="-228600">
              <a:spcAft>
                <a:spcPts val="500"/>
              </a:spcAft>
              <a:buSzPct val="100000"/>
              <a:buChar char="•"/>
            </a:pPr>
            <a:r>
              <a:rPr lang="en-US" sz="1800" dirty="0">
                <a:solidFill>
                  <a:schemeClr val="tx1"/>
                </a:solidFill>
              </a:rPr>
              <a:t>Real restaurant contact details</a:t>
            </a:r>
            <a:endParaRPr lang="en-US" sz="1800" dirty="0"/>
          </a:p>
        </p:txBody>
      </p:sp>
      <p:sp>
        <p:nvSpPr>
          <p:cNvPr id="10" name="Closing band"/>
          <p:cNvSpPr/>
          <p:nvPr/>
        </p:nvSpPr>
        <p:spPr>
          <a:xfrm>
            <a:off x="548640" y="5166360"/>
            <a:ext cx="11091672" cy="1143000"/>
          </a:xfrm>
          <a:prstGeom prst="rect">
            <a:avLst/>
          </a:prstGeom>
          <a:solidFill>
            <a:schemeClr val="tx2"/>
          </a:solidFill>
          <a:ln w="12700">
            <a:solidFill>
              <a:schemeClr val="tx2"/>
            </a:solidFill>
            <a:prstDash val="solid"/>
          </a:ln>
        </p:spPr>
      </p:sp>
      <p:pic>
        <p:nvPicPr>
          <p:cNvPr id="11" name="Closing icon" descr="Cutlery icon"/>
          <p:cNvPicPr>
            <a:picLocks noChangeAspect="1"/>
          </p:cNvPicPr>
          <p:nvPr/>
        </p:nvPicPr>
        <p:blipFill>
          <a:blip r:embed="rId3"/>
          <a:stretch>
            <a:fillRect/>
          </a:stretch>
        </p:blipFill>
        <p:spPr>
          <a:xfrm>
            <a:off x="1005840" y="5440680"/>
            <a:ext cx="594360" cy="594360"/>
          </a:xfrm>
          <a:prstGeom prst="rect">
            <a:avLst/>
          </a:prstGeom>
        </p:spPr>
      </p:pic>
      <p:sp>
        <p:nvSpPr>
          <p:cNvPr id="12" name="Closing text"/>
          <p:cNvSpPr txBox="1"/>
          <p:nvPr/>
        </p:nvSpPr>
        <p:spPr>
          <a:xfrm>
            <a:off x="2011680" y="5166360"/>
            <a:ext cx="8138160" cy="1143000"/>
          </a:xfrm>
          <a:prstGeom prst="rect">
            <a:avLst/>
          </a:prstGeom>
          <a:noFill/>
          <a:ln/>
        </p:spPr>
        <p:txBody>
          <a:bodyPr wrap="square" lIns="0" tIns="0" rIns="0" bIns="0" rtlCol="0" anchor="ctr"/>
          <a:lstStyle/>
          <a:p>
            <a:pPr marL="0" indent="0" algn="ctr">
              <a:buNone/>
            </a:pPr>
            <a:r>
              <a:rPr lang="en-US" sz="3200" b="1" kern="0" spc="600" dirty="0">
                <a:solidFill>
                  <a:schemeClr val="bg1"/>
                </a:solidFill>
                <a:latin typeface="Cambria" pitchFamily="34" charset="0"/>
                <a:ea typeface="Cambria" pitchFamily="34" charset="-122"/>
                <a:cs typeface="Cambria" pitchFamily="34" charset="-120"/>
              </a:rPr>
              <a:t>THANK YOU</a:t>
            </a:r>
            <a:endParaRPr lang="en-US" sz="3200" dirty="0"/>
          </a:p>
          <a:p>
            <a:pPr marL="0" indent="0" algn="ctr">
              <a:buNone/>
            </a:pPr>
            <a:r>
              <a:rPr lang="en-US" sz="1800" dirty="0">
                <a:solidFill>
                  <a:schemeClr val="accent1"/>
                </a:solidFill>
              </a:rPr>
              <a:t>Questions &amp; Answers</a:t>
            </a:r>
            <a:endParaRPr lang="en-US" sz="32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 xmlns:ma14="http://schemas.microsoft.com/office/mac/drawingml/2011/main" val="0"/>
            </a:ext>
          </a:extLst>
        </p:spPr>
        <p:txBody>
          <a:bodyPr/>
          <a:lstStyle>
            <a:lvl1pPr>
              <a:defRPr sz="11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theme/theme1.xml><?xml version="1.0" encoding="utf-8"?>
<a:theme xmlns:a="http://schemas.openxmlformats.org/drawingml/2006/main" name="Maison">
  <a:themeElements>
    <a:clrScheme name="Maison">
      <a:dk1>
        <a:srgbClr val="292929"/>
      </a:dk1>
      <a:lt1>
        <a:srgbClr val="F7F3EB"/>
      </a:lt1>
      <a:dk2>
        <a:srgbClr val="202020"/>
      </a:dk2>
      <a:lt2>
        <a:srgbClr val="E8DFD0"/>
      </a:lt2>
      <a:accent1>
        <a:srgbClr val="B89B5E"/>
      </a:accent1>
      <a:accent2>
        <a:srgbClr val="202020"/>
      </a:accent2>
      <a:accent3>
        <a:srgbClr val="E8DFD0"/>
      </a:accent3>
      <a:accent4>
        <a:srgbClr val="8A6F32"/>
      </a:accent4>
      <a:accent5>
        <a:srgbClr val="6B6458"/>
      </a:accent5>
      <a:accent6>
        <a:srgbClr val="D9C9A3"/>
      </a:accent6>
      <a:hlink>
        <a:srgbClr val="8A6F32"/>
      </a:hlink>
      <a:folHlink>
        <a:srgbClr val="6B6458"/>
      </a:folHlink>
    </a:clrScheme>
    <a:fontScheme name="Mais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TotalTime>
  <Words>950</Words>
  <Application>Microsoft Office PowerPoint</Application>
  <PresentationFormat>Widescreen</PresentationFormat>
  <Paragraphs>153</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Maison</vt:lpstr>
      <vt:lpstr>MAISON</vt:lpstr>
      <vt:lpstr>Project Overview</vt:lpstr>
      <vt:lpstr>Project Objectives</vt:lpstr>
      <vt:lpstr>Technology Stack</vt:lpstr>
      <vt:lpstr>Website Modules</vt:lpstr>
      <vt:lpstr>User Interface and Design</vt:lpstr>
      <vt:lpstr>Website Features</vt:lpstr>
      <vt:lpstr>Conclusion and Future Scope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MAISON — Contemporary Dining Restaurant Website</dc:title>
  <dc:subject>PptxGenJS Presentation</dc:subject>
  <dc:creator>Bhuvaneshwaran S</dc:creator>
  <cp:lastModifiedBy>aravindharaja08@outlook.com</cp:lastModifiedBy>
  <cp:revision>4</cp:revision>
  <dcterms:created xsi:type="dcterms:W3CDTF">2026-10-19T12:18:23Z</dcterms:created>
  <dcterms:modified xsi:type="dcterms:W3CDTF">2026-10-19T15:58:30Z</dcterms:modified>
</cp:coreProperties>
</file>